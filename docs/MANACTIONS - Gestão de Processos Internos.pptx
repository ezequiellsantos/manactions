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Urbanist" panose="020B0604020202020204" charset="0"/>
      <p:regular r:id="rId21"/>
      <p:bold r:id="rId22"/>
      <p:italic r:id="rId23"/>
      <p:boldItalic r:id="rId24"/>
    </p:embeddedFont>
    <p:embeddedFont>
      <p:font typeface="Urbanist Medium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7249D5B-A3F8-49AE-BACA-091DC9B23F71}">
  <a:tblStyle styleId="{F7249D5B-A3F8-49AE-BACA-091DC9B23F7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672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8659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nactions.vercel.app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3.png"/><Relationship Id="rId5" Type="http://schemas.openxmlformats.org/officeDocument/2006/relationships/image" Target="../media/image3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50506" y="2281237"/>
            <a:ext cx="7890986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MAN</a:t>
            </a:r>
            <a:r>
              <a:rPr lang="en-US" sz="63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ACTIONS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338387" y="3271837"/>
            <a:ext cx="751522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Gestão Inteligente de Demandas Internas para Microempresas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338387" y="4052887"/>
            <a:ext cx="75152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Elimine o caos e centralize sua operação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3286953" y="4599700"/>
            <a:ext cx="56181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u="sng">
                <a:solidFill>
                  <a:schemeClr val="hlink"/>
                </a:solidFill>
                <a:latin typeface="Urbanist"/>
                <a:ea typeface="Urbanist"/>
                <a:cs typeface="Urbanist"/>
                <a:sym typeface="Urbanist"/>
                <a:hlinkClick r:id="rId4"/>
              </a:rPr>
              <a:t>Acessar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/>
          <p:nvPr/>
        </p:nvSpPr>
        <p:spPr>
          <a:xfrm>
            <a:off x="5619750" y="857250"/>
            <a:ext cx="952500" cy="38100"/>
          </a:xfrm>
          <a:prstGeom prst="rect">
            <a:avLst/>
          </a:prstGeom>
          <a:solidFill>
            <a:srgbClr val="4C6EF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295275" y="1464468"/>
            <a:ext cx="11601450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O Desafio da Desorganização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2852737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Por que o modelo atual de comunicação interna está falhando?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24844"/>
            <a:ext cx="3492400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24844"/>
            <a:ext cx="3492549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324844"/>
            <a:ext cx="3492400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962025" y="3524994"/>
            <a:ext cx="284691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Ruído no Chat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962025" y="4058394"/>
            <a:ext cx="2711400" cy="13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Demandas perdidas em conversas informais e grupos de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e-mail, Discord, reuniões 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que nunca param.</a:t>
            </a:r>
            <a:endParaRPr/>
          </a:p>
        </p:txBody>
      </p:sp>
      <p:pic>
        <p:nvPicPr>
          <p:cNvPr id="108" name="Google Shape;108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17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4740175" y="3524994"/>
            <a:ext cx="2847074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E-mails Lentos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4740175" y="4058394"/>
            <a:ext cx="2711499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Solicitações soterradas em caixas de entrada sem qualquer priorização clara.</a:t>
            </a:r>
            <a:endParaRPr/>
          </a:p>
        </p:txBody>
      </p:sp>
      <p:pic>
        <p:nvPicPr>
          <p:cNvPr id="111" name="Google Shape;111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47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518475" y="3524994"/>
            <a:ext cx="284691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Memória Curta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18475" y="4058394"/>
            <a:ext cx="271135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Dependência excessiva de lembretes mentais, gerando falhas operacionais críticas.</a:t>
            </a:r>
            <a:endParaRPr/>
          </a:p>
        </p:txBody>
      </p:sp>
      <p:pic>
        <p:nvPicPr>
          <p:cNvPr id="114" name="Google Shape;114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918527" y="287991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689925" y="2886819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 Fragmentação do </a:t>
            </a:r>
            <a:r>
              <a:rPr lang="en-US" sz="3900" b="0" i="0" u="none" strike="noStrike" cap="non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Trabalho</a:t>
            </a:r>
            <a:endParaRPr/>
          </a:p>
        </p:txBody>
      </p:sp>
      <p:pic>
        <p:nvPicPr>
          <p:cNvPr id="117" name="Google Shape;117;p1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6661" y="2535389"/>
            <a:ext cx="1014651" cy="1014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/>
          <p:nvPr/>
        </p:nvSpPr>
        <p:spPr>
          <a:xfrm>
            <a:off x="5619750" y="857250"/>
            <a:ext cx="952500" cy="38100"/>
          </a:xfrm>
          <a:prstGeom prst="rect">
            <a:avLst/>
          </a:prstGeom>
          <a:solidFill>
            <a:srgbClr val="4C6EF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295275" y="1464468"/>
            <a:ext cx="11601450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A Solução: MANACTIONS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571500" y="2852737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 hub central para toda e qualquer solicitação interna da sua empresa.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 title="Captura de tela 2026-05-30 095723.png"/>
          <p:cNvPicPr preferRelativeResize="0"/>
          <p:nvPr/>
        </p:nvPicPr>
        <p:blipFill rotWithShape="1">
          <a:blip r:embed="rId4">
            <a:alphaModFix/>
          </a:blip>
          <a:srcRect t="-977" b="-1851"/>
          <a:stretch/>
        </p:blipFill>
        <p:spPr>
          <a:xfrm>
            <a:off x="6381750" y="1977181"/>
            <a:ext cx="5238751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/>
          <p:nvPr/>
        </p:nvSpPr>
        <p:spPr>
          <a:xfrm>
            <a:off x="571500" y="2871192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Visibilidade Total</a:t>
            </a:r>
            <a:endParaRPr/>
          </a:p>
        </p:txBody>
      </p:sp>
      <p:sp>
        <p:nvSpPr>
          <p:cNvPr id="133" name="Google Shape;133;p17"/>
          <p:cNvSpPr txBox="1"/>
          <p:nvPr/>
        </p:nvSpPr>
        <p:spPr>
          <a:xfrm>
            <a:off x="571500" y="3299825"/>
            <a:ext cx="55698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Toda demanda nasce e morre dentro do Manactions. Chega de perguntar "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Como está a demanda que eu criei?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" por mensagem direta.</a:t>
            </a:r>
            <a:endParaRPr/>
          </a:p>
        </p:txBody>
      </p:sp>
      <p:sp>
        <p:nvSpPr>
          <p:cNvPr id="134" name="Google Shape;134;p17"/>
          <p:cNvSpPr txBox="1"/>
          <p:nvPr/>
        </p:nvSpPr>
        <p:spPr>
          <a:xfrm>
            <a:off x="914400" y="4452342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5" name="Google Shape;135;p17"/>
          <p:cNvSpPr txBox="1"/>
          <p:nvPr/>
        </p:nvSpPr>
        <p:spPr>
          <a:xfrm>
            <a:off x="952500" y="4452342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Triagem inteligente por área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914400" y="4766667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952500" y="4766667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Priorização baseada em urgência real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914400" y="5080992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952500" y="5080992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Status visível para todos os envolvidos</a:t>
            </a:r>
            <a:endParaRPr/>
          </a:p>
        </p:txBody>
      </p:sp>
      <p:sp>
        <p:nvSpPr>
          <p:cNvPr id="140" name="Google Shape;140;p17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Centralização em </a:t>
            </a:r>
            <a:r>
              <a:rPr lang="en-US" sz="3900" b="0" i="0" u="none" strike="noStrike" cap="non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Canal Único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24844"/>
            <a:ext cx="3492400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2324844"/>
            <a:ext cx="3492549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2324844"/>
            <a:ext cx="3492400" cy="359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8"/>
          <p:cNvSpPr txBox="1"/>
          <p:nvPr/>
        </p:nvSpPr>
        <p:spPr>
          <a:xfrm>
            <a:off x="962025" y="3524994"/>
            <a:ext cx="2847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Histórico de demandas</a:t>
            </a:r>
            <a:endParaRPr/>
          </a:p>
        </p:txBody>
      </p:sp>
      <p:sp>
        <p:nvSpPr>
          <p:cNvPr id="151" name="Google Shape;151;p18"/>
          <p:cNvSpPr txBox="1"/>
          <p:nvPr/>
        </p:nvSpPr>
        <p:spPr>
          <a:xfrm>
            <a:off x="962025" y="4058394"/>
            <a:ext cx="2711350" cy="12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Rastreabilidade completa de cada ação. Saiba quem, quando e como a demanda evoluiu.</a:t>
            </a:r>
            <a:endParaRPr/>
          </a:p>
        </p:txBody>
      </p:sp>
      <p:pic>
        <p:nvPicPr>
          <p:cNvPr id="152" name="Google Shape;152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17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4740175" y="3524994"/>
            <a:ext cx="2847074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Notificações</a:t>
            </a:r>
            <a:endParaRPr/>
          </a:p>
        </p:txBody>
      </p:sp>
      <p:sp>
        <p:nvSpPr>
          <p:cNvPr id="154" name="Google Shape;154;p18"/>
          <p:cNvSpPr txBox="1"/>
          <p:nvPr/>
        </p:nvSpPr>
        <p:spPr>
          <a:xfrm>
            <a:off x="4740175" y="4058394"/>
            <a:ext cx="27114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Alertas automáticos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dentro da ferramenta, garantindo 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que nada seja esquecido.</a:t>
            </a:r>
            <a:endParaRPr/>
          </a:p>
        </p:txBody>
      </p:sp>
      <p:pic>
        <p:nvPicPr>
          <p:cNvPr id="155" name="Google Shape;155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475" y="2715369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8518475" y="3524994"/>
            <a:ext cx="284691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Governança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8518475" y="4058400"/>
            <a:ext cx="28470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Permissões granulares que protegem 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 hierarquia mantendo 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 foco operacional.</a:t>
            </a:r>
            <a:endParaRPr/>
          </a:p>
        </p:txBody>
      </p:sp>
      <p:pic>
        <p:nvPicPr>
          <p:cNvPr id="158" name="Google Shape;158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133475" y="2886819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8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925913" y="2886819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8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689925" y="2886819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8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Os Três Pilares de </a:t>
            </a:r>
            <a:r>
              <a:rPr lang="en-US" sz="3900" b="0" i="0" u="none" strike="noStrike" cap="non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Valor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67" name="Google Shape;167;p19"/>
          <p:cNvGraphicFramePr/>
          <p:nvPr/>
        </p:nvGraphicFramePr>
        <p:xfrm>
          <a:off x="571500" y="2901106"/>
          <a:ext cx="11048975" cy="2628900"/>
        </p:xfrm>
        <a:graphic>
          <a:graphicData uri="http://schemas.openxmlformats.org/drawingml/2006/table">
            <a:tbl>
              <a:tblPr firstRow="1" bandRow="1">
                <a:noFill/>
                <a:tableStyleId>{F7249D5B-A3F8-49AE-BACA-091DC9B23F71}</a:tableStyleId>
              </a:tblPr>
              <a:tblGrid>
                <a:gridCol w="20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7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B5BD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Perfil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B5BD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Capacidades Principais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B5BDB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Foco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Admin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Gestão total de usuários, áreas e configurações globais.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Estratégico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Gestor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Triagem, atribuição de responsáveis e alteração de status.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Tático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Colaborador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Abertura de chamados, comentários e consulta de base.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07376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Operacional</a:t>
                      </a:r>
                      <a:endParaRPr>
                        <a:solidFill>
                          <a:srgbClr val="07376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8" name="Google Shape;168;p19"/>
          <p:cNvSpPr/>
          <p:nvPr/>
        </p:nvSpPr>
        <p:spPr>
          <a:xfrm>
            <a:off x="571500" y="3644056"/>
            <a:ext cx="2038201" cy="19050"/>
          </a:xfrm>
          <a:prstGeom prst="rect">
            <a:avLst/>
          </a:prstGeom>
          <a:solidFill>
            <a:srgbClr val="3B5B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9"/>
          <p:cNvSpPr/>
          <p:nvPr/>
        </p:nvSpPr>
        <p:spPr>
          <a:xfrm>
            <a:off x="2609701" y="3644056"/>
            <a:ext cx="7046862" cy="19050"/>
          </a:xfrm>
          <a:prstGeom prst="rect">
            <a:avLst/>
          </a:prstGeom>
          <a:solidFill>
            <a:srgbClr val="3B5B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9656564" y="3644056"/>
            <a:ext cx="1963935" cy="19050"/>
          </a:xfrm>
          <a:prstGeom prst="rect">
            <a:avLst/>
          </a:prstGeom>
          <a:solidFill>
            <a:srgbClr val="3B5B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571500" y="4277469"/>
            <a:ext cx="2038201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2609701" y="4277469"/>
            <a:ext cx="7046862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9656564" y="4277469"/>
            <a:ext cx="1963935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571500" y="4896594"/>
            <a:ext cx="2038201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2609701" y="4896594"/>
            <a:ext cx="7046862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9656564" y="4896594"/>
            <a:ext cx="1963935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571500" y="5515719"/>
            <a:ext cx="2038201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/>
          <p:nvPr/>
        </p:nvSpPr>
        <p:spPr>
          <a:xfrm>
            <a:off x="2609701" y="5515719"/>
            <a:ext cx="7046862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9656564" y="5515719"/>
            <a:ext cx="1963935" cy="9525"/>
          </a:xfrm>
          <a:prstGeom prst="rect">
            <a:avLst/>
          </a:prstGeom>
          <a:solidFill>
            <a:srgbClr val="DAFF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Gestão de </a:t>
            </a:r>
            <a:r>
              <a:rPr lang="en-US" sz="3900" b="0" i="0" u="none" strike="noStrike" cap="non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Acessos</a:t>
            </a: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Eficiente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0"/>
          <p:cNvSpPr txBox="1"/>
          <p:nvPr/>
        </p:nvSpPr>
        <p:spPr>
          <a:xfrm>
            <a:off x="1607343" y="3267819"/>
            <a:ext cx="30957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-30%</a:t>
            </a:r>
            <a:endParaRPr/>
          </a:p>
        </p:txBody>
      </p:sp>
      <p:sp>
        <p:nvSpPr>
          <p:cNvPr id="187" name="Google Shape;187;p20"/>
          <p:cNvSpPr txBox="1"/>
          <p:nvPr/>
        </p:nvSpPr>
        <p:spPr>
          <a:xfrm>
            <a:off x="1607343" y="4696569"/>
            <a:ext cx="309562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4C6EF5"/>
                </a:solidFill>
                <a:latin typeface="Urbanist"/>
                <a:ea typeface="Urbanist"/>
                <a:cs typeface="Urbanist"/>
                <a:sym typeface="Urbanist"/>
              </a:rPr>
              <a:t>Mensagens de "Status"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6774656" y="3261717"/>
            <a:ext cx="40005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Dados Realistas</a:t>
            </a:r>
            <a:endParaRPr/>
          </a:p>
        </p:txBody>
      </p:sp>
      <p:sp>
        <p:nvSpPr>
          <p:cNvPr id="189" name="Google Shape;189;p20"/>
          <p:cNvSpPr txBox="1"/>
          <p:nvPr/>
        </p:nvSpPr>
        <p:spPr>
          <a:xfrm>
            <a:off x="6774656" y="3690342"/>
            <a:ext cx="3810000" cy="13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Em microempresas, a centralização reduz drasticamente a necessidade de reuniões de alinhamento e interrupções</a:t>
            </a:r>
            <a:r>
              <a:rPr lang="en-US" sz="165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via canais de comunicação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Redução de </a:t>
            </a:r>
            <a:r>
              <a:rPr lang="en-US" sz="3900" b="0" i="0" u="none" strike="noStrike" cap="non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Ruído</a:t>
            </a: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Operacional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54113"/>
            <a:ext cx="11049000" cy="433238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/>
        </p:nvSpPr>
        <p:spPr>
          <a:xfrm>
            <a:off x="571500" y="4667994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1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Melhoria conservadora de 15% no ciclo médio de entrega das demandas internas.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Ganho Real de </a:t>
            </a:r>
            <a:r>
              <a:rPr lang="en-US" sz="3900" b="0" i="0" u="none" strike="noStrike" cap="non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Produtividade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77181"/>
            <a:ext cx="52387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2"/>
          <p:cNvSpPr txBox="1"/>
          <p:nvPr/>
        </p:nvSpPr>
        <p:spPr>
          <a:xfrm>
            <a:off x="6381750" y="3028354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Arquitetura Moderna</a:t>
            </a:r>
            <a:endParaRPr/>
          </a:p>
        </p:txBody>
      </p:sp>
      <p:sp>
        <p:nvSpPr>
          <p:cNvPr id="206" name="Google Shape;206;p22"/>
          <p:cNvSpPr txBox="1"/>
          <p:nvPr/>
        </p:nvSpPr>
        <p:spPr>
          <a:xfrm>
            <a:off x="6381750" y="3456979"/>
            <a:ext cx="52387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 Manactions foi construído sobre as fundações tecnológicas mais seguras e escaláveis do mercado:</a:t>
            </a:r>
            <a:endParaRPr/>
          </a:p>
        </p:txBody>
      </p:sp>
      <p:pic>
        <p:nvPicPr>
          <p:cNvPr id="207" name="Google Shape;207;p22" title="Captura de tela 2026-05-30 103445.png"/>
          <p:cNvPicPr preferRelativeResize="0"/>
          <p:nvPr/>
        </p:nvPicPr>
        <p:blipFill rotWithShape="1">
          <a:blip r:embed="rId5">
            <a:alphaModFix/>
          </a:blip>
          <a:srcRect l="209" r="209"/>
          <a:stretch/>
        </p:blipFill>
        <p:spPr>
          <a:xfrm>
            <a:off x="581025" y="1986706"/>
            <a:ext cx="5219699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2"/>
          <p:cNvSpPr txBox="1"/>
          <p:nvPr/>
        </p:nvSpPr>
        <p:spPr>
          <a:xfrm>
            <a:off x="6724650" y="4295179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6762750" y="4295179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Backend: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NestJS + Prisma ORM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6724650" y="4609504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6762750" y="4609504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Database: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Supabase (PostgreSQL)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6724650" y="4923829"/>
            <a:ext cx="38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6762750" y="4923829"/>
            <a:ext cx="48577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Frontend:</a:t>
            </a: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React + TanStack Query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571500" y="982563"/>
            <a:ext cx="11601450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 dirty="0" err="1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Principais</a:t>
            </a:r>
            <a:r>
              <a:rPr lang="en-US" sz="3900" b="0" i="0" u="none" strike="noStrike" cap="none" dirty="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 sz="3900" b="0" i="0" u="none" strike="noStrike" cap="none" dirty="0" err="1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Tecnologias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000000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3"/>
          <p:cNvSpPr/>
          <p:nvPr/>
        </p:nvSpPr>
        <p:spPr>
          <a:xfrm>
            <a:off x="571500" y="4110781"/>
            <a:ext cx="11049000" cy="19050"/>
          </a:xfrm>
          <a:prstGeom prst="rect">
            <a:avLst/>
          </a:prstGeom>
          <a:solidFill>
            <a:srgbClr val="3B5BD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3"/>
          <p:cNvSpPr txBox="1"/>
          <p:nvPr/>
        </p:nvSpPr>
        <p:spPr>
          <a:xfrm>
            <a:off x="510733" y="3724572"/>
            <a:ext cx="255219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Dia 1</a:t>
            </a:r>
            <a:endParaRPr/>
          </a:p>
        </p:txBody>
      </p:sp>
      <p:sp>
        <p:nvSpPr>
          <p:cNvPr id="222" name="Google Shape;222;p23"/>
          <p:cNvSpPr txBox="1"/>
          <p:nvPr/>
        </p:nvSpPr>
        <p:spPr>
          <a:xfrm>
            <a:off x="571500" y="4210347"/>
            <a:ext cx="243066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Mapeamento de Áreas e Processos</a:t>
            </a:r>
            <a:endParaRPr/>
          </a:p>
        </p:txBody>
      </p:sp>
      <p:sp>
        <p:nvSpPr>
          <p:cNvPr id="223" name="Google Shape;223;p23"/>
          <p:cNvSpPr txBox="1"/>
          <p:nvPr/>
        </p:nvSpPr>
        <p:spPr>
          <a:xfrm>
            <a:off x="3383413" y="3724572"/>
            <a:ext cx="25521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Dia 2</a:t>
            </a:r>
            <a:endParaRPr/>
          </a:p>
        </p:txBody>
      </p:sp>
      <p:sp>
        <p:nvSpPr>
          <p:cNvPr id="224" name="Google Shape;224;p23"/>
          <p:cNvSpPr txBox="1"/>
          <p:nvPr/>
        </p:nvSpPr>
        <p:spPr>
          <a:xfrm>
            <a:off x="3444180" y="4210347"/>
            <a:ext cx="243066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Configuração de Usuários e Permissões</a:t>
            </a:r>
            <a:endParaRPr/>
          </a:p>
        </p:txBody>
      </p:sp>
      <p:sp>
        <p:nvSpPr>
          <p:cNvPr id="225" name="Google Shape;225;p23"/>
          <p:cNvSpPr txBox="1"/>
          <p:nvPr/>
        </p:nvSpPr>
        <p:spPr>
          <a:xfrm>
            <a:off x="6256094" y="3724572"/>
            <a:ext cx="255219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Dia</a:t>
            </a:r>
            <a:r>
              <a:rPr lang="en-US" sz="1800" b="1" i="0" u="none" strike="noStrike" cap="none" dirty="0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800" b="1" dirty="0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3</a:t>
            </a:r>
            <a:endParaRPr dirty="0"/>
          </a:p>
        </p:txBody>
      </p:sp>
      <p:sp>
        <p:nvSpPr>
          <p:cNvPr id="226" name="Google Shape;226;p23"/>
          <p:cNvSpPr txBox="1"/>
          <p:nvPr/>
        </p:nvSpPr>
        <p:spPr>
          <a:xfrm>
            <a:off x="6316860" y="4210347"/>
            <a:ext cx="243066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Treinamento e Onboarding do Time</a:t>
            </a:r>
            <a:endParaRPr/>
          </a:p>
        </p:txBody>
      </p:sp>
      <p:sp>
        <p:nvSpPr>
          <p:cNvPr id="227" name="Google Shape;227;p23"/>
          <p:cNvSpPr txBox="1"/>
          <p:nvPr/>
        </p:nvSpPr>
        <p:spPr>
          <a:xfrm>
            <a:off x="9128774" y="3724572"/>
            <a:ext cx="255219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Dia</a:t>
            </a:r>
            <a:r>
              <a:rPr lang="en-US" sz="1800" b="1" i="0" u="none" strike="noStrike" cap="none" dirty="0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 4</a:t>
            </a:r>
            <a:endParaRPr dirty="0"/>
          </a:p>
        </p:txBody>
      </p:sp>
      <p:sp>
        <p:nvSpPr>
          <p:cNvPr id="228" name="Google Shape;228;p23"/>
          <p:cNvSpPr txBox="1"/>
          <p:nvPr/>
        </p:nvSpPr>
        <p:spPr>
          <a:xfrm>
            <a:off x="9189541" y="4210347"/>
            <a:ext cx="243066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Go-Live e Início da Gestão Centralizada</a:t>
            </a:r>
            <a:endParaRPr/>
          </a:p>
        </p:txBody>
      </p:sp>
      <p:sp>
        <p:nvSpPr>
          <p:cNvPr id="229" name="Google Shape;229;p23"/>
          <p:cNvSpPr txBox="1"/>
          <p:nvPr/>
        </p:nvSpPr>
        <p:spPr>
          <a:xfrm>
            <a:off x="571500" y="982563"/>
            <a:ext cx="116014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Jornada de </a:t>
            </a:r>
            <a:r>
              <a:rPr lang="en-US" sz="3900" b="0" i="0" u="none" strike="noStrike" cap="none">
                <a:solidFill>
                  <a:srgbClr val="4C6E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Implementação</a:t>
            </a:r>
            <a:endParaRPr/>
          </a:p>
        </p:txBody>
      </p:sp>
      <p:sp>
        <p:nvSpPr>
          <p:cNvPr id="230" name="Google Shape;230;p23"/>
          <p:cNvSpPr/>
          <p:nvPr/>
        </p:nvSpPr>
        <p:spPr>
          <a:xfrm>
            <a:off x="1672530" y="319206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B5BDB"/>
          </a:solidFill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3"/>
          <p:cNvSpPr/>
          <p:nvPr/>
        </p:nvSpPr>
        <p:spPr>
          <a:xfrm>
            <a:off x="4545210" y="319206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B5BDB"/>
          </a:solidFill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3"/>
          <p:cNvSpPr/>
          <p:nvPr/>
        </p:nvSpPr>
        <p:spPr>
          <a:xfrm>
            <a:off x="7417891" y="319206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B5BDB"/>
          </a:solidFill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3"/>
          <p:cNvSpPr/>
          <p:nvPr/>
        </p:nvSpPr>
        <p:spPr>
          <a:xfrm>
            <a:off x="10290571" y="319206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B5BDB"/>
          </a:solidFill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4"/>
          <p:cNvSpPr txBox="1"/>
          <p:nvPr/>
        </p:nvSpPr>
        <p:spPr>
          <a:xfrm>
            <a:off x="-636987" y="398711"/>
            <a:ext cx="518041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Uso</a:t>
            </a:r>
            <a:r>
              <a:rPr lang="en-US" sz="5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5400" b="1" dirty="0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IA</a:t>
            </a:r>
            <a:endParaRPr lang="en-US" sz="1000" dirty="0">
              <a:solidFill>
                <a:srgbClr val="3B5BDB"/>
              </a:solidFill>
            </a:endParaRPr>
          </a:p>
        </p:txBody>
      </p:sp>
      <p:sp>
        <p:nvSpPr>
          <p:cNvPr id="240" name="Google Shape;240;p24"/>
          <p:cNvSpPr txBox="1"/>
          <p:nvPr/>
        </p:nvSpPr>
        <p:spPr>
          <a:xfrm>
            <a:off x="100016" y="2613416"/>
            <a:ext cx="10650139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5400" b="1">
                <a:solidFill>
                  <a:schemeClr val="bg1"/>
                </a:solidFill>
                <a:latin typeface="Urbanist"/>
                <a:ea typeface="Urbanist"/>
                <a:cs typeface="Urbanist"/>
              </a:defRPr>
            </a:lvl1pPr>
          </a:lstStyle>
          <a:p>
            <a:r>
              <a:rPr lang="pt-BR" sz="4000" dirty="0">
                <a:solidFill>
                  <a:srgbClr val="3B5BDB"/>
                </a:solidFill>
              </a:rPr>
              <a:t>FRONTEND</a:t>
            </a:r>
            <a:r>
              <a:rPr lang="pt-BR" sz="4000" dirty="0"/>
              <a:t> — 4 Etapas (</a:t>
            </a:r>
            <a:r>
              <a:rPr lang="pt-BR" sz="4000" dirty="0" err="1"/>
              <a:t>Lovable</a:t>
            </a:r>
            <a:r>
              <a:rPr lang="pt-BR" sz="4000" dirty="0"/>
              <a:t> + Cursor)</a:t>
            </a:r>
            <a:endParaRPr sz="4000" dirty="0"/>
          </a:p>
        </p:txBody>
      </p:sp>
      <p:sp>
        <p:nvSpPr>
          <p:cNvPr id="241" name="Google Shape;241;p24"/>
          <p:cNvSpPr txBox="1"/>
          <p:nvPr/>
        </p:nvSpPr>
        <p:spPr>
          <a:xfrm>
            <a:off x="590549" y="1229708"/>
            <a:ext cx="8572503" cy="114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Prompt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gerados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Através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do Claude AI </a:t>
            </a:r>
          </a:p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–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Etapas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sequenciadas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validadas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antes da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próxima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</a:p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-  Sem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sobrecarga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e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geração</a:t>
            </a:r>
            <a:r>
              <a:rPr lang="en-US" sz="165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5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erros</a:t>
            </a:r>
            <a:endParaRPr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B085614-C47B-45FD-A217-2B97D9074B56}"/>
              </a:ext>
            </a:extLst>
          </p:cNvPr>
          <p:cNvSpPr txBox="1">
            <a:spLocks/>
          </p:cNvSpPr>
          <p:nvPr/>
        </p:nvSpPr>
        <p:spPr>
          <a:xfrm>
            <a:off x="590549" y="3390815"/>
            <a:ext cx="9753601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lnSpc>
                <a:spcPct val="150000"/>
              </a:lnSpc>
              <a:buNone/>
              <a:defRPr sz="1650">
                <a:solidFill>
                  <a:srgbClr val="DAFFDE"/>
                </a:solidFill>
                <a:latin typeface="Urbanist"/>
                <a:ea typeface="Urbanist"/>
                <a:cs typeface="Urbanis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600" dirty="0">
                <a:solidFill>
                  <a:srgbClr val="3B5BDB"/>
                </a:solidFill>
              </a:rPr>
              <a:t>01</a:t>
            </a:r>
            <a:r>
              <a:rPr lang="pt-BR" sz="1600" dirty="0"/>
              <a:t> — Estrutura Base, </a:t>
            </a:r>
            <a:r>
              <a:rPr lang="pt-BR" sz="1600" dirty="0" err="1"/>
              <a:t>Auth</a:t>
            </a:r>
            <a:r>
              <a:rPr lang="pt-BR" sz="1600" dirty="0"/>
              <a:t> e Layout Global</a:t>
            </a:r>
            <a:br>
              <a:rPr lang="pt-BR" sz="1600" dirty="0"/>
            </a:br>
            <a:r>
              <a:rPr lang="pt-BR" sz="1600" dirty="0"/>
              <a:t>Login (</a:t>
            </a:r>
            <a:r>
              <a:rPr lang="pt-BR" sz="1600" dirty="0" err="1"/>
              <a:t>Supabase</a:t>
            </a:r>
            <a:r>
              <a:rPr lang="pt-BR" sz="1600" dirty="0"/>
              <a:t> </a:t>
            </a:r>
            <a:r>
              <a:rPr lang="pt-BR" sz="1600" dirty="0" err="1"/>
              <a:t>Auth</a:t>
            </a:r>
            <a:r>
              <a:rPr lang="pt-BR" sz="1600" dirty="0"/>
              <a:t>), </a:t>
            </a:r>
            <a:r>
              <a:rPr lang="pt-BR" sz="1600" dirty="0" err="1"/>
              <a:t>sidebar</a:t>
            </a:r>
            <a:r>
              <a:rPr lang="pt-BR" sz="1600" dirty="0"/>
              <a:t>, </a:t>
            </a:r>
            <a:r>
              <a:rPr lang="pt-BR" sz="1600" dirty="0" err="1"/>
              <a:t>topbar</a:t>
            </a:r>
            <a:r>
              <a:rPr lang="pt-BR" sz="1600" dirty="0"/>
              <a:t>, dashboard e </a:t>
            </a:r>
            <a:r>
              <a:rPr lang="pt-BR" sz="1600" dirty="0" err="1"/>
              <a:t>mocks</a:t>
            </a:r>
            <a:r>
              <a:rPr lang="pt-BR" sz="1600" dirty="0"/>
              <a:t> globais.</a:t>
            </a:r>
          </a:p>
          <a:p>
            <a:r>
              <a:rPr lang="pt-BR" sz="1600" dirty="0">
                <a:solidFill>
                  <a:srgbClr val="3B5BDB"/>
                </a:solidFill>
              </a:rPr>
              <a:t>02</a:t>
            </a:r>
            <a:r>
              <a:rPr lang="pt-BR" sz="1600" dirty="0"/>
              <a:t> — Módulo de Áreas</a:t>
            </a:r>
            <a:br>
              <a:rPr lang="pt-BR" sz="1600" dirty="0"/>
            </a:br>
            <a:r>
              <a:rPr lang="pt-BR" sz="1600" dirty="0"/>
              <a:t>Listagem, detalhe (4 abas), formulário de criação e preview ao vivo.</a:t>
            </a:r>
          </a:p>
          <a:p>
            <a:r>
              <a:rPr lang="pt-BR" sz="1600" dirty="0">
                <a:solidFill>
                  <a:srgbClr val="3B5BDB"/>
                </a:solidFill>
              </a:rPr>
              <a:t>03</a:t>
            </a:r>
            <a:r>
              <a:rPr lang="pt-BR" sz="1600" dirty="0"/>
              <a:t> — Módulo de Demandas e Busca Global</a:t>
            </a:r>
            <a:br>
              <a:rPr lang="pt-BR" sz="1600" dirty="0"/>
            </a:br>
            <a:r>
              <a:rPr lang="pt-BR" sz="1600" dirty="0"/>
              <a:t>Central de demandas, detalhe, </a:t>
            </a:r>
            <a:r>
              <a:rPr lang="pt-BR" sz="1600" dirty="0" err="1"/>
              <a:t>stepper</a:t>
            </a:r>
            <a:r>
              <a:rPr lang="pt-BR" sz="1600" dirty="0"/>
              <a:t> 'Nova Demanda' e modal </a:t>
            </a:r>
            <a:r>
              <a:rPr lang="pt-BR" sz="1600" dirty="0" err="1"/>
              <a:t>Cmd+K</a:t>
            </a:r>
            <a:r>
              <a:rPr lang="pt-BR" sz="1600" dirty="0"/>
              <a:t>.</a:t>
            </a:r>
          </a:p>
          <a:p>
            <a:r>
              <a:rPr lang="pt-BR" sz="1600" dirty="0">
                <a:solidFill>
                  <a:srgbClr val="3B5BDB"/>
                </a:solidFill>
              </a:rPr>
              <a:t>04</a:t>
            </a:r>
            <a:r>
              <a:rPr lang="pt-BR" sz="1600" dirty="0"/>
              <a:t> — Processos, Notificações e </a:t>
            </a:r>
            <a:r>
              <a:rPr lang="pt-BR" sz="1600" dirty="0" err="1"/>
              <a:t>Polish</a:t>
            </a:r>
            <a:r>
              <a:rPr lang="pt-BR" sz="1600" dirty="0"/>
              <a:t> Final</a:t>
            </a:r>
            <a:br>
              <a:rPr lang="pt-BR" sz="1600" dirty="0"/>
            </a:br>
            <a:r>
              <a:rPr lang="pt-BR" sz="1600" dirty="0"/>
              <a:t>Processos, perfil, notificações </a:t>
            </a:r>
            <a:r>
              <a:rPr lang="pt-BR" sz="1600" dirty="0" err="1"/>
              <a:t>Realtime</a:t>
            </a:r>
            <a:r>
              <a:rPr lang="pt-BR" sz="1600" dirty="0"/>
              <a:t>, </a:t>
            </a:r>
            <a:r>
              <a:rPr lang="pt-BR" sz="1600" dirty="0" err="1"/>
              <a:t>dark</a:t>
            </a:r>
            <a:r>
              <a:rPr lang="pt-BR" sz="1600" dirty="0"/>
              <a:t> </a:t>
            </a:r>
            <a:r>
              <a:rPr lang="pt-BR" sz="1600" dirty="0" err="1"/>
              <a:t>mode</a:t>
            </a:r>
            <a:r>
              <a:rPr lang="pt-BR" sz="1600" dirty="0"/>
              <a:t> e responsividade.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4"/>
          <p:cNvSpPr txBox="1"/>
          <p:nvPr/>
        </p:nvSpPr>
        <p:spPr>
          <a:xfrm>
            <a:off x="28575" y="394472"/>
            <a:ext cx="3837387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Uso</a:t>
            </a:r>
            <a:r>
              <a:rPr lang="en-US" sz="5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5400" b="1" dirty="0">
                <a:solidFill>
                  <a:srgbClr val="3B5BDB"/>
                </a:solidFill>
                <a:latin typeface="Urbanist"/>
                <a:ea typeface="Urbanist"/>
                <a:cs typeface="Urbanist"/>
                <a:sym typeface="Urbanist"/>
              </a:rPr>
              <a:t>IA</a:t>
            </a:r>
            <a:endParaRPr lang="en-US" sz="1000" dirty="0"/>
          </a:p>
        </p:txBody>
      </p:sp>
      <p:sp>
        <p:nvSpPr>
          <p:cNvPr id="240" name="Google Shape;240;p24"/>
          <p:cNvSpPr txBox="1"/>
          <p:nvPr/>
        </p:nvSpPr>
        <p:spPr>
          <a:xfrm>
            <a:off x="-528638" y="1477060"/>
            <a:ext cx="11215689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 algn="ctr">
              <a:buNone/>
              <a:defRPr sz="4000" b="1">
                <a:solidFill>
                  <a:srgbClr val="3B5BDB"/>
                </a:solidFill>
                <a:latin typeface="Urbanist"/>
                <a:ea typeface="Urbanist"/>
                <a:cs typeface="Urbanist"/>
              </a:defRPr>
            </a:lvl1pPr>
          </a:lstStyle>
          <a:p>
            <a:r>
              <a:rPr lang="pt-BR" dirty="0"/>
              <a:t>BACKEND </a:t>
            </a:r>
            <a:r>
              <a:rPr lang="pt-BR" dirty="0">
                <a:solidFill>
                  <a:schemeClr val="bg1"/>
                </a:solidFill>
              </a:rPr>
              <a:t>— 5 Etapas (Cursor + </a:t>
            </a:r>
            <a:r>
              <a:rPr lang="pt-BR" dirty="0" err="1">
                <a:solidFill>
                  <a:schemeClr val="bg1"/>
                </a:solidFill>
              </a:rPr>
              <a:t>NestJS</a:t>
            </a:r>
            <a:r>
              <a:rPr lang="pt-BR" dirty="0">
                <a:solidFill>
                  <a:schemeClr val="bg1"/>
                </a:solidFill>
              </a:rPr>
              <a:t>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B019F8D-BC7F-4AC6-8D6F-31459CE912EA}"/>
              </a:ext>
            </a:extLst>
          </p:cNvPr>
          <p:cNvSpPr txBox="1">
            <a:spLocks/>
          </p:cNvSpPr>
          <p:nvPr/>
        </p:nvSpPr>
        <p:spPr>
          <a:xfrm>
            <a:off x="519111" y="2278347"/>
            <a:ext cx="9753601" cy="369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lnSpc>
                <a:spcPct val="150000"/>
              </a:lnSpc>
              <a:buNone/>
              <a:defRPr sz="1650">
                <a:solidFill>
                  <a:srgbClr val="DAFFDE"/>
                </a:solidFill>
                <a:latin typeface="Urbanist"/>
                <a:ea typeface="Urbanist"/>
                <a:cs typeface="Urbanis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pt-BR" sz="1600" b="1" dirty="0">
                <a:solidFill>
                  <a:srgbClr val="3B5BDB"/>
                </a:solidFill>
              </a:rPr>
              <a:t>01 </a:t>
            </a:r>
            <a:r>
              <a:rPr lang="pt-BR" sz="1600" dirty="0">
                <a:solidFill>
                  <a:schemeClr val="bg1"/>
                </a:solidFill>
              </a:rPr>
              <a:t>— Setup, Prisma </a:t>
            </a:r>
            <a:r>
              <a:rPr lang="pt-BR" sz="1600" dirty="0" err="1">
                <a:solidFill>
                  <a:schemeClr val="bg1"/>
                </a:solidFill>
              </a:rPr>
              <a:t>Schema</a:t>
            </a:r>
            <a:r>
              <a:rPr lang="pt-BR" sz="1600" dirty="0">
                <a:solidFill>
                  <a:schemeClr val="bg1"/>
                </a:solidFill>
              </a:rPr>
              <a:t> e </a:t>
            </a:r>
            <a:r>
              <a:rPr lang="pt-BR" sz="1600" dirty="0" err="1">
                <a:solidFill>
                  <a:schemeClr val="bg1"/>
                </a:solidFill>
              </a:rPr>
              <a:t>Supabase</a:t>
            </a:r>
            <a:br>
              <a:rPr lang="pt-BR" sz="1600" dirty="0">
                <a:solidFill>
                  <a:schemeClr val="bg1"/>
                </a:solidFill>
              </a:rPr>
            </a:br>
            <a:r>
              <a:rPr lang="pt-BR" sz="1600" dirty="0">
                <a:solidFill>
                  <a:schemeClr val="bg1"/>
                </a:solidFill>
              </a:rPr>
              <a:t>Estrutura base, .</a:t>
            </a:r>
            <a:r>
              <a:rPr lang="pt-BR" sz="1600" dirty="0" err="1">
                <a:solidFill>
                  <a:schemeClr val="bg1"/>
                </a:solidFill>
              </a:rPr>
              <a:t>env</a:t>
            </a:r>
            <a:r>
              <a:rPr lang="pt-BR" sz="1600" dirty="0">
                <a:solidFill>
                  <a:schemeClr val="bg1"/>
                </a:solidFill>
              </a:rPr>
              <a:t>, models Prisma, </a:t>
            </a:r>
            <a:r>
              <a:rPr lang="pt-BR" sz="1600" dirty="0" err="1">
                <a:solidFill>
                  <a:schemeClr val="bg1"/>
                </a:solidFill>
              </a:rPr>
              <a:t>seed</a:t>
            </a:r>
            <a:r>
              <a:rPr lang="pt-BR" sz="1600" dirty="0">
                <a:solidFill>
                  <a:schemeClr val="bg1"/>
                </a:solidFill>
              </a:rPr>
              <a:t> e conexão com </a:t>
            </a:r>
            <a:r>
              <a:rPr lang="pt-BR" sz="1600" dirty="0" err="1">
                <a:solidFill>
                  <a:schemeClr val="bg1"/>
                </a:solidFill>
              </a:rPr>
              <a:t>Supabase</a:t>
            </a:r>
            <a:r>
              <a:rPr lang="pt-BR" sz="1600" dirty="0">
                <a:solidFill>
                  <a:schemeClr val="bg1"/>
                </a:solidFill>
              </a:rPr>
              <a:t>.</a:t>
            </a:r>
          </a:p>
          <a:p>
            <a:r>
              <a:rPr lang="pt-BR" sz="1600" b="1" dirty="0">
                <a:solidFill>
                  <a:srgbClr val="3B5BDB"/>
                </a:solidFill>
              </a:rPr>
              <a:t>02</a:t>
            </a:r>
            <a:r>
              <a:rPr lang="pt-BR" sz="1600" dirty="0">
                <a:solidFill>
                  <a:schemeClr val="bg1"/>
                </a:solidFill>
              </a:rPr>
              <a:t> — Autenticação (JWT Guard + Passport)</a:t>
            </a:r>
            <a:br>
              <a:rPr lang="pt-BR" sz="1600" dirty="0">
                <a:solidFill>
                  <a:schemeClr val="bg1"/>
                </a:solidFill>
              </a:rPr>
            </a:br>
            <a:r>
              <a:rPr lang="pt-BR" sz="1600" dirty="0">
                <a:solidFill>
                  <a:schemeClr val="bg1"/>
                </a:solidFill>
              </a:rPr>
              <a:t>Valida token </a:t>
            </a:r>
            <a:r>
              <a:rPr lang="pt-BR" sz="1600" dirty="0" err="1">
                <a:solidFill>
                  <a:schemeClr val="bg1"/>
                </a:solidFill>
              </a:rPr>
              <a:t>Supabase</a:t>
            </a:r>
            <a:r>
              <a:rPr lang="pt-BR" sz="1600" dirty="0">
                <a:solidFill>
                  <a:schemeClr val="bg1"/>
                </a:solidFill>
              </a:rPr>
              <a:t>, cria usuário interno e expõe @CurrentUser.</a:t>
            </a:r>
          </a:p>
          <a:p>
            <a:r>
              <a:rPr lang="pt-BR" sz="1600" b="1" dirty="0">
                <a:solidFill>
                  <a:srgbClr val="3B5BDB"/>
                </a:solidFill>
              </a:rPr>
              <a:t>03</a:t>
            </a:r>
            <a:r>
              <a:rPr lang="pt-BR" sz="1600" dirty="0">
                <a:solidFill>
                  <a:schemeClr val="bg1"/>
                </a:solidFill>
              </a:rPr>
              <a:t> — Módulos de Áreas e Usuários</a:t>
            </a:r>
            <a:br>
              <a:rPr lang="pt-BR" sz="1600" dirty="0">
                <a:solidFill>
                  <a:schemeClr val="bg1"/>
                </a:solidFill>
              </a:rPr>
            </a:br>
            <a:r>
              <a:rPr lang="pt-BR" sz="1600" dirty="0">
                <a:solidFill>
                  <a:schemeClr val="bg1"/>
                </a:solidFill>
              </a:rPr>
              <a:t>CRUD de áreas, canais de contato, responsáveis e perfis.</a:t>
            </a:r>
          </a:p>
          <a:p>
            <a:r>
              <a:rPr lang="pt-BR" sz="1600" b="1" dirty="0">
                <a:solidFill>
                  <a:srgbClr val="3B5BDB"/>
                </a:solidFill>
              </a:rPr>
              <a:t>04</a:t>
            </a:r>
            <a:r>
              <a:rPr lang="pt-BR" sz="1600" dirty="0">
                <a:solidFill>
                  <a:schemeClr val="bg1"/>
                </a:solidFill>
              </a:rPr>
              <a:t> — Demandas, Notificações e Busca</a:t>
            </a:r>
            <a:br>
              <a:rPr lang="pt-BR" sz="1600" dirty="0">
                <a:solidFill>
                  <a:schemeClr val="bg1"/>
                </a:solidFill>
              </a:rPr>
            </a:br>
            <a:r>
              <a:rPr lang="pt-BR" sz="1600" dirty="0">
                <a:solidFill>
                  <a:schemeClr val="bg1"/>
                </a:solidFill>
              </a:rPr>
              <a:t>Transições de status, histórico, triagem, </a:t>
            </a:r>
            <a:r>
              <a:rPr lang="pt-BR" sz="1600" dirty="0" err="1">
                <a:solidFill>
                  <a:schemeClr val="bg1"/>
                </a:solidFill>
              </a:rPr>
              <a:t>Resend</a:t>
            </a:r>
            <a:r>
              <a:rPr lang="pt-BR" sz="1600" dirty="0">
                <a:solidFill>
                  <a:schemeClr val="bg1"/>
                </a:solidFill>
              </a:rPr>
              <a:t> e busca global.</a:t>
            </a:r>
          </a:p>
          <a:p>
            <a:r>
              <a:rPr lang="pt-BR" sz="1600" b="1" dirty="0">
                <a:solidFill>
                  <a:srgbClr val="3B5BDB"/>
                </a:solidFill>
              </a:rPr>
              <a:t>05</a:t>
            </a:r>
            <a:r>
              <a:rPr lang="pt-BR" sz="1600" dirty="0">
                <a:solidFill>
                  <a:schemeClr val="bg1"/>
                </a:solidFill>
              </a:rPr>
              <a:t> — Processos, Dashboard e </a:t>
            </a:r>
            <a:r>
              <a:rPr lang="pt-BR" sz="1600" dirty="0" err="1">
                <a:solidFill>
                  <a:schemeClr val="bg1"/>
                </a:solidFill>
              </a:rPr>
              <a:t>Deploy</a:t>
            </a:r>
            <a:br>
              <a:rPr lang="pt-BR" sz="1600" dirty="0">
                <a:solidFill>
                  <a:schemeClr val="bg1"/>
                </a:solidFill>
              </a:rPr>
            </a:br>
            <a:r>
              <a:rPr lang="pt-BR" sz="1600" dirty="0">
                <a:solidFill>
                  <a:schemeClr val="bg1"/>
                </a:solidFill>
              </a:rPr>
              <a:t>Processos, </a:t>
            </a:r>
            <a:r>
              <a:rPr lang="pt-BR" sz="1600" dirty="0" err="1">
                <a:solidFill>
                  <a:schemeClr val="bg1"/>
                </a:solidFill>
              </a:rPr>
              <a:t>endpoint</a:t>
            </a:r>
            <a:r>
              <a:rPr lang="pt-BR" sz="1600" dirty="0">
                <a:solidFill>
                  <a:schemeClr val="bg1"/>
                </a:solidFill>
              </a:rPr>
              <a:t> /dashboard, rate </a:t>
            </a:r>
            <a:r>
              <a:rPr lang="pt-BR" sz="1600" dirty="0" err="1">
                <a:solidFill>
                  <a:schemeClr val="bg1"/>
                </a:solidFill>
              </a:rPr>
              <a:t>limiting</a:t>
            </a:r>
            <a:r>
              <a:rPr lang="pt-BR" sz="1600" dirty="0">
                <a:solidFill>
                  <a:schemeClr val="bg1"/>
                </a:solidFill>
              </a:rPr>
              <a:t>, </a:t>
            </a:r>
            <a:r>
              <a:rPr lang="pt-BR" sz="1600" dirty="0" err="1">
                <a:solidFill>
                  <a:schemeClr val="bg1"/>
                </a:solidFill>
              </a:rPr>
              <a:t>seed</a:t>
            </a:r>
            <a:r>
              <a:rPr lang="pt-BR" sz="1600" dirty="0">
                <a:solidFill>
                  <a:schemeClr val="bg1"/>
                </a:solidFill>
              </a:rPr>
              <a:t> e Railway.</a:t>
            </a:r>
          </a:p>
        </p:txBody>
      </p:sp>
    </p:spTree>
    <p:extLst>
      <p:ext uri="{BB962C8B-B14F-4D97-AF65-F5344CB8AC3E}">
        <p14:creationId xmlns:p14="http://schemas.microsoft.com/office/powerpoint/2010/main" val="3772185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Google Shape;24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5"/>
          <p:cNvSpPr/>
          <p:nvPr/>
        </p:nvSpPr>
        <p:spPr>
          <a:xfrm>
            <a:off x="571500" y="3353544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5"/>
          <p:cNvSpPr/>
          <p:nvPr/>
        </p:nvSpPr>
        <p:spPr>
          <a:xfrm>
            <a:off x="571500" y="334401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p25" title="Captura de tela 2026-05-30 095723.png"/>
          <p:cNvPicPr preferRelativeResize="0"/>
          <p:nvPr/>
        </p:nvPicPr>
        <p:blipFill rotWithShape="1">
          <a:blip r:embed="rId4">
            <a:alphaModFix/>
          </a:blip>
          <a:srcRect t="14075" b="14075"/>
          <a:stretch/>
        </p:blipFill>
        <p:spPr>
          <a:xfrm>
            <a:off x="571500" y="2239728"/>
            <a:ext cx="1730552" cy="9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5"/>
          <p:cNvSpPr txBox="1"/>
          <p:nvPr/>
        </p:nvSpPr>
        <p:spPr>
          <a:xfrm>
            <a:off x="2464149" y="2199381"/>
            <a:ext cx="6976800" cy="3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68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Visualização</a:t>
            </a:r>
            <a:r>
              <a:rPr lang="en-US" sz="1968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da Ferramenta</a:t>
            </a:r>
            <a:endParaRPr sz="2826" dirty="0"/>
          </a:p>
        </p:txBody>
      </p:sp>
      <p:sp>
        <p:nvSpPr>
          <p:cNvPr id="252" name="Google Shape;252;p25"/>
          <p:cNvSpPr txBox="1"/>
          <p:nvPr/>
        </p:nvSpPr>
        <p:spPr>
          <a:xfrm>
            <a:off x="2519350" y="2905312"/>
            <a:ext cx="5708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https://manactions.vercel.app/</a:t>
            </a:r>
            <a:endParaRPr dirty="0"/>
          </a:p>
        </p:txBody>
      </p:sp>
      <p:sp>
        <p:nvSpPr>
          <p:cNvPr id="253" name="Google Shape;253;p25"/>
          <p:cNvSpPr txBox="1"/>
          <p:nvPr/>
        </p:nvSpPr>
        <p:spPr>
          <a:xfrm>
            <a:off x="571500" y="982563"/>
            <a:ext cx="11601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Links:</a:t>
            </a:r>
            <a:endParaRPr/>
          </a:p>
        </p:txBody>
      </p:sp>
      <p:sp>
        <p:nvSpPr>
          <p:cNvPr id="254" name="Google Shape;254;p25"/>
          <p:cNvSpPr/>
          <p:nvPr/>
        </p:nvSpPr>
        <p:spPr>
          <a:xfrm>
            <a:off x="571500" y="4700994"/>
            <a:ext cx="11049000" cy="7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5" name="Google Shape;255;p25" title="Captura de tela 2026-05-30 110612.png"/>
          <p:cNvPicPr preferRelativeResize="0"/>
          <p:nvPr/>
        </p:nvPicPr>
        <p:blipFill rotWithShape="1">
          <a:blip r:embed="rId5">
            <a:alphaModFix/>
          </a:blip>
          <a:srcRect t="9980" b="9988"/>
          <a:stretch/>
        </p:blipFill>
        <p:spPr>
          <a:xfrm>
            <a:off x="571500" y="3587178"/>
            <a:ext cx="1730551" cy="96142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5"/>
          <p:cNvSpPr txBox="1"/>
          <p:nvPr/>
        </p:nvSpPr>
        <p:spPr>
          <a:xfrm>
            <a:off x="2464149" y="3587172"/>
            <a:ext cx="6976800" cy="3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68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Visualização</a:t>
            </a:r>
            <a:r>
              <a:rPr lang="en-US" sz="1968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do Código</a:t>
            </a:r>
            <a:endParaRPr sz="2826" dirty="0"/>
          </a:p>
        </p:txBody>
      </p:sp>
      <p:sp>
        <p:nvSpPr>
          <p:cNvPr id="257" name="Google Shape;257;p25"/>
          <p:cNvSpPr txBox="1"/>
          <p:nvPr/>
        </p:nvSpPr>
        <p:spPr>
          <a:xfrm>
            <a:off x="2519350" y="4293103"/>
            <a:ext cx="5708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https://github.com/EzequiellSantos/Manactions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637</Words>
  <Application>Microsoft Office PowerPoint</Application>
  <PresentationFormat>Widescreen</PresentationFormat>
  <Paragraphs>90</Paragraphs>
  <Slides>14</Slides>
  <Notes>14</Notes>
  <HiddenSlides>1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Urbanist</vt:lpstr>
      <vt:lpstr>Calibri</vt:lpstr>
      <vt:lpstr>Urbanist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Ezequiel Santos</dc:creator>
  <cp:lastModifiedBy>Ezequiel Santos</cp:lastModifiedBy>
  <cp:revision>5</cp:revision>
  <dcterms:modified xsi:type="dcterms:W3CDTF">2026-05-31T16:01:21Z</dcterms:modified>
</cp:coreProperties>
</file>