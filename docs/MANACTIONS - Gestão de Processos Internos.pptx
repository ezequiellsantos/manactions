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y="6858000" cx="12192000"/>
  <p:notesSz cx="6858000" cy="9144000"/>
  <p:embeddedFontLst>
    <p:embeddedFont>
      <p:font typeface="Urbanist Medium"/>
      <p:regular r:id="rId20"/>
      <p:bold r:id="rId21"/>
      <p:italic r:id="rId22"/>
      <p:boldItalic r:id="rId23"/>
    </p:embeddedFont>
    <p:embeddedFont>
      <p:font typeface="Urbanist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7249D5B-A3F8-49AE-BACA-091DC9B23F71}">
  <a:tblStyle styleId="{F7249D5B-A3F8-49AE-BACA-091DC9B23F71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UrbanistMedium-regular.fntdata"/><Relationship Id="rId22" Type="http://schemas.openxmlformats.org/officeDocument/2006/relationships/font" Target="fonts/UrbanistMedium-italic.fntdata"/><Relationship Id="rId21" Type="http://schemas.openxmlformats.org/officeDocument/2006/relationships/font" Target="fonts/UrbanistMedium-bold.fntdata"/><Relationship Id="rId24" Type="http://schemas.openxmlformats.org/officeDocument/2006/relationships/font" Target="fonts/Urbanist-regular.fntdata"/><Relationship Id="rId23" Type="http://schemas.openxmlformats.org/officeDocument/2006/relationships/font" Target="fonts/UrbanistMedium-bold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Urbanist-italic.fntdata"/><Relationship Id="rId25" Type="http://schemas.openxmlformats.org/officeDocument/2006/relationships/font" Target="fonts/Urbanist-bold.fntdata"/><Relationship Id="rId27" Type="http://schemas.openxmlformats.org/officeDocument/2006/relationships/font" Target="fonts/Urbanist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hyperlink" Target="https://manactions.vercel.app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11" Type="http://schemas.openxmlformats.org/officeDocument/2006/relationships/image" Target="../media/image4.png"/><Relationship Id="rId10" Type="http://schemas.openxmlformats.org/officeDocument/2006/relationships/image" Target="../media/image11.png"/><Relationship Id="rId9" Type="http://schemas.openxmlformats.org/officeDocument/2006/relationships/image" Target="../media/image1.png"/><Relationship Id="rId5" Type="http://schemas.openxmlformats.org/officeDocument/2006/relationships/image" Target="../media/image7.png"/><Relationship Id="rId6" Type="http://schemas.openxmlformats.org/officeDocument/2006/relationships/image" Target="../media/image10.png"/><Relationship Id="rId7" Type="http://schemas.openxmlformats.org/officeDocument/2006/relationships/image" Target="../media/image2.png"/><Relationship Id="rId8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11" Type="http://schemas.openxmlformats.org/officeDocument/2006/relationships/image" Target="../media/image16.png"/><Relationship Id="rId10" Type="http://schemas.openxmlformats.org/officeDocument/2006/relationships/image" Target="../media/image14.png"/><Relationship Id="rId9" Type="http://schemas.openxmlformats.org/officeDocument/2006/relationships/image" Target="../media/image17.png"/><Relationship Id="rId5" Type="http://schemas.openxmlformats.org/officeDocument/2006/relationships/image" Target="../media/image7.png"/><Relationship Id="rId6" Type="http://schemas.openxmlformats.org/officeDocument/2006/relationships/image" Target="../media/image10.png"/><Relationship Id="rId7" Type="http://schemas.openxmlformats.org/officeDocument/2006/relationships/image" Target="../media/image2.png"/><Relationship Id="rId8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Relationship Id="rId4" Type="http://schemas.openxmlformats.org/officeDocument/2006/relationships/image" Target="../media/image1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12.png"/><Relationship Id="rId5" Type="http://schemas.openxmlformats.org/officeDocument/2006/relationships/image" Target="../media/image1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150506" y="2281237"/>
            <a:ext cx="7890986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300" u="none" cap="none" strike="noStrik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MAN</a:t>
            </a:r>
            <a:r>
              <a:rPr b="1" i="0" lang="en-US" sz="6300" u="none" cap="none" strike="noStrike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ACTIONS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2338387" y="3271837"/>
            <a:ext cx="7515225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4C6E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Gestão Inteligente de Demandas Internas para Microempresas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2338387" y="4052887"/>
            <a:ext cx="7515225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Elimine o caos e centralize sua operação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3286953" y="4599700"/>
            <a:ext cx="56181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u="sng">
                <a:solidFill>
                  <a:schemeClr val="hlink"/>
                </a:solidFill>
                <a:latin typeface="Urbanist"/>
                <a:ea typeface="Urbanist"/>
                <a:cs typeface="Urbanist"/>
                <a:sym typeface="Urbanist"/>
                <a:hlinkClick r:id="rId4"/>
              </a:rPr>
              <a:t>Acessar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3" name="Google Shape;9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/>
          <p:nvPr/>
        </p:nvSpPr>
        <p:spPr>
          <a:xfrm>
            <a:off x="5619750" y="857250"/>
            <a:ext cx="952500" cy="38100"/>
          </a:xfrm>
          <a:prstGeom prst="rect">
            <a:avLst/>
          </a:prstGeom>
          <a:solidFill>
            <a:srgbClr val="4C6E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295275" y="1464468"/>
            <a:ext cx="11601450" cy="819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O Desafio da Desorganização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571500" y="2852737"/>
            <a:ext cx="110490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Por que o modelo atual de comunicação interna está falhando?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1" name="Google Shape;1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2" name="Google Shape;10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324844"/>
            <a:ext cx="3492400" cy="3590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3" name="Google Shape;103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650" y="2324844"/>
            <a:ext cx="3492549" cy="3590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4" name="Google Shape;104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27950" y="2324844"/>
            <a:ext cx="3492400" cy="3590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5" name="Google Shape;105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62025" y="2715369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5"/>
          <p:cNvSpPr txBox="1"/>
          <p:nvPr/>
        </p:nvSpPr>
        <p:spPr>
          <a:xfrm>
            <a:off x="962025" y="3524994"/>
            <a:ext cx="2846918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Ruído no Chat</a:t>
            </a:r>
            <a:endParaRPr/>
          </a:p>
        </p:txBody>
      </p:sp>
      <p:sp>
        <p:nvSpPr>
          <p:cNvPr id="107" name="Google Shape;107;p15"/>
          <p:cNvSpPr txBox="1"/>
          <p:nvPr/>
        </p:nvSpPr>
        <p:spPr>
          <a:xfrm>
            <a:off x="962025" y="4058394"/>
            <a:ext cx="2711400" cy="139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Demandas perdidas em conversas informais e grupos de </a:t>
            </a:r>
            <a:r>
              <a:rPr lang="en-US" sz="165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e-mail, Discord, reuniões </a:t>
            </a: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que nunca param.</a:t>
            </a:r>
            <a:endParaRPr/>
          </a:p>
        </p:txBody>
      </p:sp>
      <p:pic>
        <p:nvPicPr>
          <p:cNvPr descr="image.png" id="108" name="Google Shape;108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740175" y="2715369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5"/>
          <p:cNvSpPr txBox="1"/>
          <p:nvPr/>
        </p:nvSpPr>
        <p:spPr>
          <a:xfrm>
            <a:off x="4740175" y="3524994"/>
            <a:ext cx="2847074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E-mails Lentos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4740175" y="4058394"/>
            <a:ext cx="2711499" cy="942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Solicitações soterradas em caixas de entrada sem qualquer priorização clara.</a:t>
            </a:r>
            <a:endParaRPr/>
          </a:p>
        </p:txBody>
      </p:sp>
      <p:pic>
        <p:nvPicPr>
          <p:cNvPr descr="image.png" id="111" name="Google Shape;111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518475" y="2715369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5"/>
          <p:cNvSpPr txBox="1"/>
          <p:nvPr/>
        </p:nvSpPr>
        <p:spPr>
          <a:xfrm>
            <a:off x="8518475" y="3524994"/>
            <a:ext cx="2846918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Memória Curta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8518475" y="4058394"/>
            <a:ext cx="2711350" cy="942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Dependência excessiva de lembretes mentais, gerando falhas operacionais críticas.</a:t>
            </a:r>
            <a:endParaRPr/>
          </a:p>
        </p:txBody>
      </p:sp>
      <p:pic>
        <p:nvPicPr>
          <p:cNvPr descr="image.png" id="114" name="Google Shape;114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918527" y="2879917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689925" y="2886819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5"/>
          <p:cNvSpPr txBox="1"/>
          <p:nvPr/>
        </p:nvSpPr>
        <p:spPr>
          <a:xfrm>
            <a:off x="571500" y="982563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900" u="none" cap="none" strike="noStrik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A Fragmentação do </a:t>
            </a:r>
            <a:r>
              <a:rPr b="0" i="0" lang="en-US" sz="3900" u="none" cap="none" strike="noStrike">
                <a:solidFill>
                  <a:srgbClr val="4C6E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Trabalho</a:t>
            </a:r>
            <a:endParaRPr/>
          </a:p>
        </p:txBody>
      </p:sp>
      <p:pic>
        <p:nvPicPr>
          <p:cNvPr id="117" name="Google Shape;117;p15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26661" y="2535389"/>
            <a:ext cx="1014651" cy="1014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2" name="Google Shape;12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6"/>
          <p:cNvSpPr/>
          <p:nvPr/>
        </p:nvSpPr>
        <p:spPr>
          <a:xfrm>
            <a:off x="5619750" y="857250"/>
            <a:ext cx="952500" cy="38100"/>
          </a:xfrm>
          <a:prstGeom prst="rect">
            <a:avLst/>
          </a:prstGeom>
          <a:solidFill>
            <a:srgbClr val="4C6E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6"/>
          <p:cNvSpPr txBox="1"/>
          <p:nvPr/>
        </p:nvSpPr>
        <p:spPr>
          <a:xfrm>
            <a:off x="295275" y="1464468"/>
            <a:ext cx="11601450" cy="819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A Solução: MANACTIONS</a:t>
            </a:r>
            <a:endParaRPr/>
          </a:p>
        </p:txBody>
      </p:sp>
      <p:sp>
        <p:nvSpPr>
          <p:cNvPr id="125" name="Google Shape;125;p16"/>
          <p:cNvSpPr txBox="1"/>
          <p:nvPr/>
        </p:nvSpPr>
        <p:spPr>
          <a:xfrm>
            <a:off x="571500" y="2852737"/>
            <a:ext cx="110490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O hub central para toda e qualquer solicitação interna da sua empresa.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0" name="Google Shape;13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7" title="Captura de tela 2026-05-30 095723.png"/>
          <p:cNvPicPr preferRelativeResize="0"/>
          <p:nvPr/>
        </p:nvPicPr>
        <p:blipFill rotWithShape="1">
          <a:blip r:embed="rId4">
            <a:alphaModFix/>
          </a:blip>
          <a:srcRect b="-1851" l="0" r="0" t="-977"/>
          <a:stretch/>
        </p:blipFill>
        <p:spPr>
          <a:xfrm>
            <a:off x="6381750" y="1977181"/>
            <a:ext cx="5238751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7"/>
          <p:cNvSpPr txBox="1"/>
          <p:nvPr/>
        </p:nvSpPr>
        <p:spPr>
          <a:xfrm>
            <a:off x="571500" y="2871192"/>
            <a:ext cx="5500687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Visibilidade Total</a:t>
            </a:r>
            <a:endParaRPr/>
          </a:p>
        </p:txBody>
      </p:sp>
      <p:sp>
        <p:nvSpPr>
          <p:cNvPr id="133" name="Google Shape;133;p17"/>
          <p:cNvSpPr txBox="1"/>
          <p:nvPr/>
        </p:nvSpPr>
        <p:spPr>
          <a:xfrm>
            <a:off x="571500" y="3299825"/>
            <a:ext cx="55698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Toda demanda nasce e morre dentro do Manactions. Chega de perguntar "</a:t>
            </a:r>
            <a:r>
              <a:rPr lang="en-US" sz="165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Como está a demanda que eu criei?</a:t>
            </a: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" por mensagem direta.</a:t>
            </a:r>
            <a:endParaRPr/>
          </a:p>
        </p:txBody>
      </p:sp>
      <p:sp>
        <p:nvSpPr>
          <p:cNvPr id="134" name="Google Shape;134;p17"/>
          <p:cNvSpPr txBox="1"/>
          <p:nvPr/>
        </p:nvSpPr>
        <p:spPr>
          <a:xfrm>
            <a:off x="914400" y="4452342"/>
            <a:ext cx="381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35" name="Google Shape;135;p17"/>
          <p:cNvSpPr txBox="1"/>
          <p:nvPr/>
        </p:nvSpPr>
        <p:spPr>
          <a:xfrm>
            <a:off x="952500" y="4452342"/>
            <a:ext cx="485775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Triagem inteligente por área</a:t>
            </a: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914400" y="4766667"/>
            <a:ext cx="381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37" name="Google Shape;137;p17"/>
          <p:cNvSpPr txBox="1"/>
          <p:nvPr/>
        </p:nvSpPr>
        <p:spPr>
          <a:xfrm>
            <a:off x="952500" y="4766667"/>
            <a:ext cx="485775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Priorização baseada em urgência real</a:t>
            </a: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914400" y="5080992"/>
            <a:ext cx="381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39" name="Google Shape;139;p17"/>
          <p:cNvSpPr txBox="1"/>
          <p:nvPr/>
        </p:nvSpPr>
        <p:spPr>
          <a:xfrm>
            <a:off x="952500" y="5080992"/>
            <a:ext cx="485775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Status visível para todos os envolvidos</a:t>
            </a:r>
            <a:endParaRPr/>
          </a:p>
        </p:txBody>
      </p:sp>
      <p:sp>
        <p:nvSpPr>
          <p:cNvPr id="140" name="Google Shape;140;p17"/>
          <p:cNvSpPr txBox="1"/>
          <p:nvPr/>
        </p:nvSpPr>
        <p:spPr>
          <a:xfrm>
            <a:off x="571500" y="982563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900" u="none" cap="none" strike="noStrik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Centralização em </a:t>
            </a:r>
            <a:r>
              <a:rPr b="0" i="0" lang="en-US" sz="3900" u="none" cap="none" strike="noStrike">
                <a:solidFill>
                  <a:srgbClr val="4C6E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Canal Único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5" name="Google Shape;14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6" name="Google Shape;14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324844"/>
            <a:ext cx="3492400" cy="3590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7" name="Google Shape;147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650" y="2324844"/>
            <a:ext cx="3492549" cy="3590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8" name="Google Shape;148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27950" y="2324844"/>
            <a:ext cx="3492400" cy="3590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9" name="Google Shape;149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62025" y="2715369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8"/>
          <p:cNvSpPr txBox="1"/>
          <p:nvPr/>
        </p:nvSpPr>
        <p:spPr>
          <a:xfrm>
            <a:off x="962025" y="3524994"/>
            <a:ext cx="2847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Histórico de demandas</a:t>
            </a:r>
            <a:endParaRPr/>
          </a:p>
        </p:txBody>
      </p:sp>
      <p:sp>
        <p:nvSpPr>
          <p:cNvPr id="151" name="Google Shape;151;p18"/>
          <p:cNvSpPr txBox="1"/>
          <p:nvPr/>
        </p:nvSpPr>
        <p:spPr>
          <a:xfrm>
            <a:off x="962025" y="4058394"/>
            <a:ext cx="2711350" cy="12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Rastreabilidade completa de cada ação. Saiba quem, quando e como a demanda evoluiu.</a:t>
            </a:r>
            <a:endParaRPr/>
          </a:p>
        </p:txBody>
      </p:sp>
      <p:pic>
        <p:nvPicPr>
          <p:cNvPr descr="image.png" id="152" name="Google Shape;152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740175" y="2715369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8"/>
          <p:cNvSpPr txBox="1"/>
          <p:nvPr/>
        </p:nvSpPr>
        <p:spPr>
          <a:xfrm>
            <a:off x="4740175" y="3524994"/>
            <a:ext cx="2847074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Notificações</a:t>
            </a:r>
            <a:endParaRPr/>
          </a:p>
        </p:txBody>
      </p:sp>
      <p:sp>
        <p:nvSpPr>
          <p:cNvPr id="154" name="Google Shape;154;p18"/>
          <p:cNvSpPr txBox="1"/>
          <p:nvPr/>
        </p:nvSpPr>
        <p:spPr>
          <a:xfrm>
            <a:off x="4740175" y="4058394"/>
            <a:ext cx="27114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Alertas automáticos </a:t>
            </a:r>
            <a:r>
              <a:rPr lang="en-US" sz="165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dentro da ferramenta, garantindo </a:t>
            </a: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que nada seja esquecido.</a:t>
            </a:r>
            <a:endParaRPr/>
          </a:p>
        </p:txBody>
      </p:sp>
      <p:pic>
        <p:nvPicPr>
          <p:cNvPr descr="image.png" id="155" name="Google Shape;155;p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518475" y="2715369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8"/>
          <p:cNvSpPr txBox="1"/>
          <p:nvPr/>
        </p:nvSpPr>
        <p:spPr>
          <a:xfrm>
            <a:off x="8518475" y="3524994"/>
            <a:ext cx="2846918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Governança</a:t>
            </a:r>
            <a:endParaRPr/>
          </a:p>
        </p:txBody>
      </p:sp>
      <p:sp>
        <p:nvSpPr>
          <p:cNvPr id="157" name="Google Shape;157;p18"/>
          <p:cNvSpPr txBox="1"/>
          <p:nvPr/>
        </p:nvSpPr>
        <p:spPr>
          <a:xfrm>
            <a:off x="8518475" y="4058400"/>
            <a:ext cx="28470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Permissões granulares que protegem </a:t>
            </a:r>
            <a:r>
              <a:rPr lang="en-US" sz="165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a hierarquia mantendo </a:t>
            </a: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o foco operacional.</a:t>
            </a:r>
            <a:endParaRPr/>
          </a:p>
        </p:txBody>
      </p:sp>
      <p:pic>
        <p:nvPicPr>
          <p:cNvPr descr="image.png" id="158" name="Google Shape;158;p1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133475" y="2886819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9" name="Google Shape;159;p1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4925913" y="2886819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0" name="Google Shape;160;p18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8689925" y="2886819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8"/>
          <p:cNvSpPr txBox="1"/>
          <p:nvPr/>
        </p:nvSpPr>
        <p:spPr>
          <a:xfrm>
            <a:off x="571500" y="982563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900" u="none" cap="none" strike="noStrik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Os Três Pilares de </a:t>
            </a:r>
            <a:r>
              <a:rPr b="0" i="0" lang="en-US" sz="3900" u="none" cap="none" strike="noStrike">
                <a:solidFill>
                  <a:srgbClr val="4C6E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Valor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6" name="Google Shape;16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67" name="Google Shape;167;p19"/>
          <p:cNvGraphicFramePr/>
          <p:nvPr/>
        </p:nvGraphicFramePr>
        <p:xfrm>
          <a:off x="571500" y="290110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{F7249D5B-A3F8-49AE-BACA-091DC9B23F71}</a:tableStyleId>
              </a:tblPr>
              <a:tblGrid>
                <a:gridCol w="2038200"/>
                <a:gridCol w="7046850"/>
                <a:gridCol w="1963925"/>
              </a:tblGrid>
              <a:tr h="6572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3B5BDB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Perfil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3B5BDB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Capacidades Principais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3B5BDB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Foco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07376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Admin</a:t>
                      </a:r>
                      <a:endParaRPr>
                        <a:solidFill>
                          <a:srgbClr val="073763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07376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Gestão total de usuários, áreas e configurações globais.</a:t>
                      </a:r>
                      <a:endParaRPr>
                        <a:solidFill>
                          <a:srgbClr val="073763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07376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Estratégico</a:t>
                      </a:r>
                      <a:endParaRPr>
                        <a:solidFill>
                          <a:srgbClr val="073763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72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07376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Gestor</a:t>
                      </a:r>
                      <a:endParaRPr>
                        <a:solidFill>
                          <a:srgbClr val="073763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07376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Triagem, atribuição de responsáveis e alteração de status.</a:t>
                      </a:r>
                      <a:endParaRPr>
                        <a:solidFill>
                          <a:srgbClr val="073763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07376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Tático</a:t>
                      </a:r>
                      <a:endParaRPr>
                        <a:solidFill>
                          <a:srgbClr val="073763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72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07376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Colaborador</a:t>
                      </a:r>
                      <a:endParaRPr>
                        <a:solidFill>
                          <a:srgbClr val="073763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07376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Abertura de chamados, comentários e consulta de base.</a:t>
                      </a:r>
                      <a:endParaRPr>
                        <a:solidFill>
                          <a:srgbClr val="073763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07376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Operacional</a:t>
                      </a:r>
                      <a:endParaRPr>
                        <a:solidFill>
                          <a:srgbClr val="073763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68" name="Google Shape;168;p19"/>
          <p:cNvSpPr/>
          <p:nvPr/>
        </p:nvSpPr>
        <p:spPr>
          <a:xfrm>
            <a:off x="571500" y="3644056"/>
            <a:ext cx="2038201" cy="19050"/>
          </a:xfrm>
          <a:prstGeom prst="rect">
            <a:avLst/>
          </a:prstGeom>
          <a:solidFill>
            <a:srgbClr val="3B5BD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9"/>
          <p:cNvSpPr/>
          <p:nvPr/>
        </p:nvSpPr>
        <p:spPr>
          <a:xfrm>
            <a:off x="2609701" y="3644056"/>
            <a:ext cx="7046862" cy="19050"/>
          </a:xfrm>
          <a:prstGeom prst="rect">
            <a:avLst/>
          </a:prstGeom>
          <a:solidFill>
            <a:srgbClr val="3B5BD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9"/>
          <p:cNvSpPr/>
          <p:nvPr/>
        </p:nvSpPr>
        <p:spPr>
          <a:xfrm>
            <a:off x="9656564" y="3644056"/>
            <a:ext cx="1963935" cy="19050"/>
          </a:xfrm>
          <a:prstGeom prst="rect">
            <a:avLst/>
          </a:prstGeom>
          <a:solidFill>
            <a:srgbClr val="3B5BD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9"/>
          <p:cNvSpPr/>
          <p:nvPr/>
        </p:nvSpPr>
        <p:spPr>
          <a:xfrm>
            <a:off x="571500" y="4277469"/>
            <a:ext cx="2038201" cy="9525"/>
          </a:xfrm>
          <a:prstGeom prst="rect">
            <a:avLst/>
          </a:prstGeom>
          <a:solidFill>
            <a:srgbClr val="DAFF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9"/>
          <p:cNvSpPr/>
          <p:nvPr/>
        </p:nvSpPr>
        <p:spPr>
          <a:xfrm>
            <a:off x="2609701" y="4277469"/>
            <a:ext cx="7046862" cy="9525"/>
          </a:xfrm>
          <a:prstGeom prst="rect">
            <a:avLst/>
          </a:prstGeom>
          <a:solidFill>
            <a:srgbClr val="DAFF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9"/>
          <p:cNvSpPr/>
          <p:nvPr/>
        </p:nvSpPr>
        <p:spPr>
          <a:xfrm>
            <a:off x="9656564" y="4277469"/>
            <a:ext cx="1963935" cy="9525"/>
          </a:xfrm>
          <a:prstGeom prst="rect">
            <a:avLst/>
          </a:prstGeom>
          <a:solidFill>
            <a:srgbClr val="DAFF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9"/>
          <p:cNvSpPr/>
          <p:nvPr/>
        </p:nvSpPr>
        <p:spPr>
          <a:xfrm>
            <a:off x="571500" y="4896594"/>
            <a:ext cx="2038201" cy="9525"/>
          </a:xfrm>
          <a:prstGeom prst="rect">
            <a:avLst/>
          </a:prstGeom>
          <a:solidFill>
            <a:srgbClr val="DAFF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9"/>
          <p:cNvSpPr/>
          <p:nvPr/>
        </p:nvSpPr>
        <p:spPr>
          <a:xfrm>
            <a:off x="2609701" y="4896594"/>
            <a:ext cx="7046862" cy="9525"/>
          </a:xfrm>
          <a:prstGeom prst="rect">
            <a:avLst/>
          </a:prstGeom>
          <a:solidFill>
            <a:srgbClr val="DAFF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9"/>
          <p:cNvSpPr/>
          <p:nvPr/>
        </p:nvSpPr>
        <p:spPr>
          <a:xfrm>
            <a:off x="9656564" y="4896594"/>
            <a:ext cx="1963935" cy="9525"/>
          </a:xfrm>
          <a:prstGeom prst="rect">
            <a:avLst/>
          </a:prstGeom>
          <a:solidFill>
            <a:srgbClr val="DAFF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9"/>
          <p:cNvSpPr/>
          <p:nvPr/>
        </p:nvSpPr>
        <p:spPr>
          <a:xfrm>
            <a:off x="571500" y="5515719"/>
            <a:ext cx="2038201" cy="9525"/>
          </a:xfrm>
          <a:prstGeom prst="rect">
            <a:avLst/>
          </a:prstGeom>
          <a:solidFill>
            <a:srgbClr val="DAFF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9"/>
          <p:cNvSpPr/>
          <p:nvPr/>
        </p:nvSpPr>
        <p:spPr>
          <a:xfrm>
            <a:off x="2609701" y="5515719"/>
            <a:ext cx="7046862" cy="9525"/>
          </a:xfrm>
          <a:prstGeom prst="rect">
            <a:avLst/>
          </a:prstGeom>
          <a:solidFill>
            <a:srgbClr val="DAFF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9"/>
          <p:cNvSpPr/>
          <p:nvPr/>
        </p:nvSpPr>
        <p:spPr>
          <a:xfrm>
            <a:off x="9656564" y="5515719"/>
            <a:ext cx="1963935" cy="9525"/>
          </a:xfrm>
          <a:prstGeom prst="rect">
            <a:avLst/>
          </a:prstGeom>
          <a:solidFill>
            <a:srgbClr val="DAFF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9"/>
          <p:cNvSpPr txBox="1"/>
          <p:nvPr/>
        </p:nvSpPr>
        <p:spPr>
          <a:xfrm>
            <a:off x="571500" y="982563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900" u="none" cap="none" strike="noStrik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Gestão de </a:t>
            </a:r>
            <a:r>
              <a:rPr b="0" i="0" lang="en-US" sz="3900" u="none" cap="none" strike="noStrike">
                <a:solidFill>
                  <a:srgbClr val="4C6E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Acessos</a:t>
            </a:r>
            <a:r>
              <a:rPr b="0" i="0" lang="en-US" sz="3900" u="none" cap="none" strike="noStrik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 Eficiente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5" name="Google Shape;185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0"/>
          <p:cNvSpPr txBox="1"/>
          <p:nvPr/>
        </p:nvSpPr>
        <p:spPr>
          <a:xfrm>
            <a:off x="1607343" y="3267819"/>
            <a:ext cx="30957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0" u="none" cap="none" strike="noStrike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-30%</a:t>
            </a:r>
            <a:endParaRPr/>
          </a:p>
        </p:txBody>
      </p:sp>
      <p:sp>
        <p:nvSpPr>
          <p:cNvPr id="187" name="Google Shape;187;p20"/>
          <p:cNvSpPr txBox="1"/>
          <p:nvPr/>
        </p:nvSpPr>
        <p:spPr>
          <a:xfrm>
            <a:off x="1607343" y="4696569"/>
            <a:ext cx="309562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4C6EF5"/>
                </a:solidFill>
                <a:latin typeface="Urbanist"/>
                <a:ea typeface="Urbanist"/>
                <a:cs typeface="Urbanist"/>
                <a:sym typeface="Urbanist"/>
              </a:rPr>
              <a:t>Mensagens de "Status"</a:t>
            </a:r>
            <a:endParaRPr/>
          </a:p>
        </p:txBody>
      </p:sp>
      <p:sp>
        <p:nvSpPr>
          <p:cNvPr id="188" name="Google Shape;188;p20"/>
          <p:cNvSpPr txBox="1"/>
          <p:nvPr/>
        </p:nvSpPr>
        <p:spPr>
          <a:xfrm>
            <a:off x="6774656" y="3261717"/>
            <a:ext cx="40005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Dados Realistas</a:t>
            </a:r>
            <a:endParaRPr/>
          </a:p>
        </p:txBody>
      </p:sp>
      <p:sp>
        <p:nvSpPr>
          <p:cNvPr id="189" name="Google Shape;189;p20"/>
          <p:cNvSpPr txBox="1"/>
          <p:nvPr/>
        </p:nvSpPr>
        <p:spPr>
          <a:xfrm>
            <a:off x="6774656" y="3690342"/>
            <a:ext cx="3810000" cy="139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Em microempresas, a centralização reduz drasticamente a necessidade de reuniões de alinhamento e interr</a:t>
            </a: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upções</a:t>
            </a:r>
            <a:r>
              <a:rPr lang="en-US" sz="165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via canais de comunicação</a:t>
            </a: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190" name="Google Shape;190;p20"/>
          <p:cNvSpPr txBox="1"/>
          <p:nvPr/>
        </p:nvSpPr>
        <p:spPr>
          <a:xfrm>
            <a:off x="571500" y="982563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900" u="none" cap="none" strike="noStrik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Redução de </a:t>
            </a:r>
            <a:r>
              <a:rPr b="0" i="0" lang="en-US" sz="3900" u="none" cap="none" strike="noStrike">
                <a:solidFill>
                  <a:srgbClr val="4C6E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Ruído</a:t>
            </a:r>
            <a:r>
              <a:rPr b="0" i="0" lang="en-US" sz="3900" u="none" cap="none" strike="noStrik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 Operacional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5" name="Google Shape;195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6" name="Google Shape;196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954113"/>
            <a:ext cx="11049000" cy="433238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1"/>
          <p:cNvSpPr txBox="1"/>
          <p:nvPr/>
        </p:nvSpPr>
        <p:spPr>
          <a:xfrm>
            <a:off x="571500" y="4667994"/>
            <a:ext cx="110490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Melhoria conservadora de 15% no ciclo médio de entrega das demandas internas.</a:t>
            </a:r>
            <a:endParaRPr/>
          </a:p>
        </p:txBody>
      </p:sp>
      <p:sp>
        <p:nvSpPr>
          <p:cNvPr id="198" name="Google Shape;198;p21"/>
          <p:cNvSpPr txBox="1"/>
          <p:nvPr/>
        </p:nvSpPr>
        <p:spPr>
          <a:xfrm>
            <a:off x="571500" y="982563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900" u="none" cap="none" strike="noStrik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Ganho Real de </a:t>
            </a:r>
            <a:r>
              <a:rPr b="0" i="0" lang="en-US" sz="3900" u="none" cap="none" strike="noStrike">
                <a:solidFill>
                  <a:srgbClr val="4C6E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Produtividade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3" name="Google Shape;20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4" name="Google Shape;204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977181"/>
            <a:ext cx="5238750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2"/>
          <p:cNvSpPr txBox="1"/>
          <p:nvPr/>
        </p:nvSpPr>
        <p:spPr>
          <a:xfrm>
            <a:off x="6381750" y="3028354"/>
            <a:ext cx="5500687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Arquitetura Moderna</a:t>
            </a:r>
            <a:endParaRPr/>
          </a:p>
        </p:txBody>
      </p:sp>
      <p:sp>
        <p:nvSpPr>
          <p:cNvPr id="206" name="Google Shape;206;p22"/>
          <p:cNvSpPr txBox="1"/>
          <p:nvPr/>
        </p:nvSpPr>
        <p:spPr>
          <a:xfrm>
            <a:off x="6381750" y="3456979"/>
            <a:ext cx="5238750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O Manactions foi construído sobre as fundações tecnológicas mais seguras e escaláveis do mercado:</a:t>
            </a:r>
            <a:endParaRPr/>
          </a:p>
        </p:txBody>
      </p:sp>
      <p:pic>
        <p:nvPicPr>
          <p:cNvPr id="207" name="Google Shape;207;p22" title="Captura de tela 2026-05-30 103445.png"/>
          <p:cNvPicPr preferRelativeResize="0"/>
          <p:nvPr/>
        </p:nvPicPr>
        <p:blipFill rotWithShape="1">
          <a:blip r:embed="rId5">
            <a:alphaModFix/>
          </a:blip>
          <a:srcRect b="0" l="209" r="209" t="0"/>
          <a:stretch/>
        </p:blipFill>
        <p:spPr>
          <a:xfrm>
            <a:off x="581025" y="1986706"/>
            <a:ext cx="5219699" cy="426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2"/>
          <p:cNvSpPr txBox="1"/>
          <p:nvPr/>
        </p:nvSpPr>
        <p:spPr>
          <a:xfrm>
            <a:off x="6724650" y="4295179"/>
            <a:ext cx="381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209" name="Google Shape;209;p22"/>
          <p:cNvSpPr txBox="1"/>
          <p:nvPr/>
        </p:nvSpPr>
        <p:spPr>
          <a:xfrm>
            <a:off x="6762750" y="4295179"/>
            <a:ext cx="485775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Backend:</a:t>
            </a: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NestJS + Prisma ORM</a:t>
            </a:r>
            <a:endParaRPr/>
          </a:p>
        </p:txBody>
      </p:sp>
      <p:sp>
        <p:nvSpPr>
          <p:cNvPr id="210" name="Google Shape;210;p22"/>
          <p:cNvSpPr txBox="1"/>
          <p:nvPr/>
        </p:nvSpPr>
        <p:spPr>
          <a:xfrm>
            <a:off x="6724650" y="4609504"/>
            <a:ext cx="381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211" name="Google Shape;211;p22"/>
          <p:cNvSpPr txBox="1"/>
          <p:nvPr/>
        </p:nvSpPr>
        <p:spPr>
          <a:xfrm>
            <a:off x="6762750" y="4609504"/>
            <a:ext cx="485775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Database:</a:t>
            </a: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Supabase (PostgreSQL)</a:t>
            </a:r>
            <a:endParaRPr/>
          </a:p>
        </p:txBody>
      </p:sp>
      <p:sp>
        <p:nvSpPr>
          <p:cNvPr id="212" name="Google Shape;212;p22"/>
          <p:cNvSpPr txBox="1"/>
          <p:nvPr/>
        </p:nvSpPr>
        <p:spPr>
          <a:xfrm>
            <a:off x="6724650" y="4923829"/>
            <a:ext cx="381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213" name="Google Shape;213;p22"/>
          <p:cNvSpPr txBox="1"/>
          <p:nvPr/>
        </p:nvSpPr>
        <p:spPr>
          <a:xfrm>
            <a:off x="6762750" y="4923829"/>
            <a:ext cx="485775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Frontend:</a:t>
            </a: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React + TanStack Query</a:t>
            </a:r>
            <a:endParaRPr/>
          </a:p>
        </p:txBody>
      </p:sp>
      <p:sp>
        <p:nvSpPr>
          <p:cNvPr id="214" name="Google Shape;214;p22"/>
          <p:cNvSpPr txBox="1"/>
          <p:nvPr/>
        </p:nvSpPr>
        <p:spPr>
          <a:xfrm>
            <a:off x="571500" y="982563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900" u="none" cap="none" strike="noStrik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Tecnologia de </a:t>
            </a:r>
            <a:r>
              <a:rPr b="0" i="0" lang="en-US" sz="3900" u="none" cap="none" strike="noStrike">
                <a:solidFill>
                  <a:srgbClr val="4C6E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Ponta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000000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9" name="Google Shape;219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3"/>
          <p:cNvSpPr/>
          <p:nvPr/>
        </p:nvSpPr>
        <p:spPr>
          <a:xfrm>
            <a:off x="571500" y="4110781"/>
            <a:ext cx="11049000" cy="19050"/>
          </a:xfrm>
          <a:prstGeom prst="rect">
            <a:avLst/>
          </a:prstGeom>
          <a:solidFill>
            <a:srgbClr val="3B5BD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3"/>
          <p:cNvSpPr txBox="1"/>
          <p:nvPr/>
        </p:nvSpPr>
        <p:spPr>
          <a:xfrm>
            <a:off x="510733" y="3724572"/>
            <a:ext cx="25521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Dia 1</a:t>
            </a:r>
            <a:endParaRPr/>
          </a:p>
        </p:txBody>
      </p:sp>
      <p:sp>
        <p:nvSpPr>
          <p:cNvPr id="222" name="Google Shape;222;p23"/>
          <p:cNvSpPr txBox="1"/>
          <p:nvPr/>
        </p:nvSpPr>
        <p:spPr>
          <a:xfrm>
            <a:off x="571500" y="4210347"/>
            <a:ext cx="2430660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Mapeamento de Áreas e Processos</a:t>
            </a:r>
            <a:endParaRPr/>
          </a:p>
        </p:txBody>
      </p:sp>
      <p:sp>
        <p:nvSpPr>
          <p:cNvPr id="223" name="Google Shape;223;p23"/>
          <p:cNvSpPr txBox="1"/>
          <p:nvPr/>
        </p:nvSpPr>
        <p:spPr>
          <a:xfrm>
            <a:off x="3383413" y="3724572"/>
            <a:ext cx="2552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Dia 2</a:t>
            </a:r>
            <a:endParaRPr/>
          </a:p>
        </p:txBody>
      </p:sp>
      <p:sp>
        <p:nvSpPr>
          <p:cNvPr id="224" name="Google Shape;224;p23"/>
          <p:cNvSpPr txBox="1"/>
          <p:nvPr/>
        </p:nvSpPr>
        <p:spPr>
          <a:xfrm>
            <a:off x="3444180" y="4210347"/>
            <a:ext cx="2430660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Configuração de Usuários e Permissões</a:t>
            </a:r>
            <a:endParaRPr/>
          </a:p>
        </p:txBody>
      </p:sp>
      <p:sp>
        <p:nvSpPr>
          <p:cNvPr id="225" name="Google Shape;225;p23"/>
          <p:cNvSpPr txBox="1"/>
          <p:nvPr/>
        </p:nvSpPr>
        <p:spPr>
          <a:xfrm>
            <a:off x="6256094" y="3724572"/>
            <a:ext cx="25521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Dia 4-5</a:t>
            </a:r>
            <a:endParaRPr/>
          </a:p>
        </p:txBody>
      </p:sp>
      <p:sp>
        <p:nvSpPr>
          <p:cNvPr id="226" name="Google Shape;226;p23"/>
          <p:cNvSpPr txBox="1"/>
          <p:nvPr/>
        </p:nvSpPr>
        <p:spPr>
          <a:xfrm>
            <a:off x="6316860" y="4210347"/>
            <a:ext cx="2430660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Treinamento e Onboarding do Time</a:t>
            </a:r>
            <a:endParaRPr/>
          </a:p>
        </p:txBody>
      </p:sp>
      <p:sp>
        <p:nvSpPr>
          <p:cNvPr id="227" name="Google Shape;227;p23"/>
          <p:cNvSpPr txBox="1"/>
          <p:nvPr/>
        </p:nvSpPr>
        <p:spPr>
          <a:xfrm>
            <a:off x="9128774" y="3724572"/>
            <a:ext cx="25521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Dia 7</a:t>
            </a:r>
            <a:endParaRPr/>
          </a:p>
        </p:txBody>
      </p:sp>
      <p:sp>
        <p:nvSpPr>
          <p:cNvPr id="228" name="Google Shape;228;p23"/>
          <p:cNvSpPr txBox="1"/>
          <p:nvPr/>
        </p:nvSpPr>
        <p:spPr>
          <a:xfrm>
            <a:off x="9189541" y="4210347"/>
            <a:ext cx="2430660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Go-Live e Início da Gestão Centralizada</a:t>
            </a:r>
            <a:endParaRPr/>
          </a:p>
        </p:txBody>
      </p:sp>
      <p:sp>
        <p:nvSpPr>
          <p:cNvPr id="229" name="Google Shape;229;p23"/>
          <p:cNvSpPr txBox="1"/>
          <p:nvPr/>
        </p:nvSpPr>
        <p:spPr>
          <a:xfrm>
            <a:off x="571500" y="982563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900" u="none" cap="none" strike="noStrik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Jornada de </a:t>
            </a:r>
            <a:r>
              <a:rPr b="0" i="0" lang="en-US" sz="3900" u="none" cap="none" strike="noStrike">
                <a:solidFill>
                  <a:srgbClr val="4C6E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Implementação</a:t>
            </a:r>
            <a:endParaRPr/>
          </a:p>
        </p:txBody>
      </p:sp>
      <p:sp>
        <p:nvSpPr>
          <p:cNvPr id="230" name="Google Shape;230;p23"/>
          <p:cNvSpPr/>
          <p:nvPr/>
        </p:nvSpPr>
        <p:spPr>
          <a:xfrm>
            <a:off x="1672530" y="3192065"/>
            <a:ext cx="228600" cy="228600"/>
          </a:xfrm>
          <a:prstGeom prst="roundRect">
            <a:avLst>
              <a:gd fmla="val 50000" name="adj"/>
            </a:avLst>
          </a:prstGeom>
          <a:solidFill>
            <a:srgbClr val="3B5BDB"/>
          </a:solidFill>
          <a:ln cap="flat" cmpd="sng" w="381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3"/>
          <p:cNvSpPr/>
          <p:nvPr/>
        </p:nvSpPr>
        <p:spPr>
          <a:xfrm>
            <a:off x="4545210" y="3192065"/>
            <a:ext cx="228600" cy="228600"/>
          </a:xfrm>
          <a:prstGeom prst="roundRect">
            <a:avLst>
              <a:gd fmla="val 50000" name="adj"/>
            </a:avLst>
          </a:prstGeom>
          <a:solidFill>
            <a:srgbClr val="3B5BDB"/>
          </a:solidFill>
          <a:ln cap="flat" cmpd="sng" w="381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3"/>
          <p:cNvSpPr/>
          <p:nvPr/>
        </p:nvSpPr>
        <p:spPr>
          <a:xfrm>
            <a:off x="7417891" y="3192065"/>
            <a:ext cx="228600" cy="228600"/>
          </a:xfrm>
          <a:prstGeom prst="roundRect">
            <a:avLst>
              <a:gd fmla="val 50000" name="adj"/>
            </a:avLst>
          </a:prstGeom>
          <a:solidFill>
            <a:srgbClr val="3B5BDB"/>
          </a:solidFill>
          <a:ln cap="flat" cmpd="sng" w="381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3"/>
          <p:cNvSpPr/>
          <p:nvPr/>
        </p:nvSpPr>
        <p:spPr>
          <a:xfrm>
            <a:off x="10290571" y="3192065"/>
            <a:ext cx="228600" cy="228600"/>
          </a:xfrm>
          <a:prstGeom prst="roundRect">
            <a:avLst>
              <a:gd fmla="val 50000" name="adj"/>
            </a:avLst>
          </a:prstGeom>
          <a:solidFill>
            <a:srgbClr val="3B5BDB"/>
          </a:solidFill>
          <a:ln cap="flat" cmpd="sng" w="381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8" name="Google Shape;23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24"/>
          <p:cNvSpPr txBox="1"/>
          <p:nvPr/>
        </p:nvSpPr>
        <p:spPr>
          <a:xfrm>
            <a:off x="2820590" y="2409825"/>
            <a:ext cx="6550818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0" u="none" cap="none" strike="noStrike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Dúvidas?</a:t>
            </a:r>
            <a:endParaRPr/>
          </a:p>
        </p:txBody>
      </p:sp>
      <p:sp>
        <p:nvSpPr>
          <p:cNvPr id="240" name="Google Shape;240;p24"/>
          <p:cNvSpPr txBox="1"/>
          <p:nvPr/>
        </p:nvSpPr>
        <p:spPr>
          <a:xfrm>
            <a:off x="2976562" y="3743325"/>
            <a:ext cx="6238875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4C6E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MANACTIONS: O controle que sua empresa merece.</a:t>
            </a:r>
            <a:endParaRPr/>
          </a:p>
        </p:txBody>
      </p:sp>
      <p:sp>
        <p:nvSpPr>
          <p:cNvPr id="241" name="Google Shape;241;p24"/>
          <p:cNvSpPr txBox="1"/>
          <p:nvPr/>
        </p:nvSpPr>
        <p:spPr>
          <a:xfrm>
            <a:off x="2976562" y="4714875"/>
            <a:ext cx="6238875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manactions.vercel.app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6" name="Google Shape;2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25"/>
          <p:cNvSpPr/>
          <p:nvPr/>
        </p:nvSpPr>
        <p:spPr>
          <a:xfrm>
            <a:off x="571500" y="3353544"/>
            <a:ext cx="11049000" cy="771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5"/>
          <p:cNvSpPr/>
          <p:nvPr/>
        </p:nvSpPr>
        <p:spPr>
          <a:xfrm>
            <a:off x="571500" y="4115544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5"/>
          <p:cNvSpPr/>
          <p:nvPr/>
        </p:nvSpPr>
        <p:spPr>
          <a:xfrm>
            <a:off x="571500" y="4115544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0" name="Google Shape;250;p25" title="Captura de tela 2026-05-30 095723.png"/>
          <p:cNvPicPr preferRelativeResize="0"/>
          <p:nvPr/>
        </p:nvPicPr>
        <p:blipFill rotWithShape="1">
          <a:blip r:embed="rId4">
            <a:alphaModFix/>
          </a:blip>
          <a:srcRect b="14075" l="0" r="0" t="14075"/>
          <a:stretch/>
        </p:blipFill>
        <p:spPr>
          <a:xfrm>
            <a:off x="571500" y="3011256"/>
            <a:ext cx="1730552" cy="961425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25"/>
          <p:cNvSpPr txBox="1"/>
          <p:nvPr/>
        </p:nvSpPr>
        <p:spPr>
          <a:xfrm>
            <a:off x="2464149" y="3011250"/>
            <a:ext cx="69768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68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Visualização da Ferramenta</a:t>
            </a:r>
            <a:endParaRPr sz="2826"/>
          </a:p>
        </p:txBody>
      </p:sp>
      <p:sp>
        <p:nvSpPr>
          <p:cNvPr id="252" name="Google Shape;252;p25"/>
          <p:cNvSpPr txBox="1"/>
          <p:nvPr/>
        </p:nvSpPr>
        <p:spPr>
          <a:xfrm>
            <a:off x="2519350" y="3744075"/>
            <a:ext cx="5708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https://manactions.vercel.app/</a:t>
            </a:r>
            <a:endParaRPr/>
          </a:p>
        </p:txBody>
      </p:sp>
      <p:sp>
        <p:nvSpPr>
          <p:cNvPr id="253" name="Google Shape;253;p25"/>
          <p:cNvSpPr txBox="1"/>
          <p:nvPr/>
        </p:nvSpPr>
        <p:spPr>
          <a:xfrm>
            <a:off x="571500" y="982563"/>
            <a:ext cx="116016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Links:</a:t>
            </a:r>
            <a:endParaRPr/>
          </a:p>
        </p:txBody>
      </p:sp>
      <p:sp>
        <p:nvSpPr>
          <p:cNvPr id="254" name="Google Shape;254;p25"/>
          <p:cNvSpPr/>
          <p:nvPr/>
        </p:nvSpPr>
        <p:spPr>
          <a:xfrm>
            <a:off x="571500" y="4700994"/>
            <a:ext cx="11049000" cy="7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5" name="Google Shape;255;p25" title="Captura de tela 2026-05-30 110612.png"/>
          <p:cNvPicPr preferRelativeResize="0"/>
          <p:nvPr/>
        </p:nvPicPr>
        <p:blipFill rotWithShape="1">
          <a:blip r:embed="rId5">
            <a:alphaModFix/>
          </a:blip>
          <a:srcRect b="9988" l="0" r="0" t="9980"/>
          <a:stretch/>
        </p:blipFill>
        <p:spPr>
          <a:xfrm>
            <a:off x="571500" y="4358706"/>
            <a:ext cx="1730551" cy="961425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25"/>
          <p:cNvSpPr txBox="1"/>
          <p:nvPr/>
        </p:nvSpPr>
        <p:spPr>
          <a:xfrm>
            <a:off x="2464149" y="4358700"/>
            <a:ext cx="69768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68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Visualização do Código</a:t>
            </a:r>
            <a:endParaRPr sz="2826"/>
          </a:p>
        </p:txBody>
      </p:sp>
      <p:sp>
        <p:nvSpPr>
          <p:cNvPr id="257" name="Google Shape;257;p25"/>
          <p:cNvSpPr txBox="1"/>
          <p:nvPr/>
        </p:nvSpPr>
        <p:spPr>
          <a:xfrm>
            <a:off x="2519350" y="5091525"/>
            <a:ext cx="5708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https://github.com/EzequiellSantos/Manactions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