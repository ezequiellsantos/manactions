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Urbanist" panose="020B0604020202020204" charset="0"/>
      <p:regular r:id="rId20"/>
      <p:bold r:id="rId21"/>
      <p:italic r:id="rId22"/>
      <p:boldItalic r:id="rId23"/>
    </p:embeddedFont>
    <p:embeddedFont>
      <p:font typeface="Urbanist Medium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7249D5B-A3F8-49AE-BACA-091DC9B23F71}">
  <a:tblStyle styleId="{F7249D5B-A3F8-49AE-BACA-091DC9B23F7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516" y="-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anactions.vercel.app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50506" y="2281237"/>
            <a:ext cx="7890986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MAN</a:t>
            </a:r>
            <a:r>
              <a:rPr lang="en-US" sz="6300" b="1" i="0" u="none" strike="noStrike" cap="none">
                <a:solidFill>
                  <a:srgbClr val="3B5BDB"/>
                </a:solidFill>
                <a:latin typeface="Urbanist"/>
                <a:ea typeface="Urbanist"/>
                <a:cs typeface="Urbanist"/>
                <a:sym typeface="Urbanist"/>
              </a:rPr>
              <a:t>ACTIONS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338387" y="3271837"/>
            <a:ext cx="75152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C6E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Gestão Inteligente de Demandas Internas para Microempresas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338387" y="4052887"/>
            <a:ext cx="75152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Elimine o caos e centralize sua operação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286953" y="4599700"/>
            <a:ext cx="5618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u="sng">
                <a:solidFill>
                  <a:schemeClr val="hlink"/>
                </a:solidFill>
                <a:latin typeface="Urbanist"/>
                <a:ea typeface="Urbanist"/>
                <a:cs typeface="Urbanist"/>
                <a:sym typeface="Urbanist"/>
                <a:hlinkClick r:id="rId4"/>
              </a:rPr>
              <a:t>Acessar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95275" y="1464468"/>
            <a:ext cx="1160145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3B5BDB"/>
                </a:solidFill>
                <a:latin typeface="Urbanist"/>
                <a:ea typeface="Urbanist"/>
                <a:cs typeface="Urbanist"/>
                <a:sym typeface="Urbanist"/>
              </a:rPr>
              <a:t>O Desafio da Desorganização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8527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Por que o modelo atual de comunicação interna está falhando?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4844"/>
            <a:ext cx="3492400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24844"/>
            <a:ext cx="3492549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324844"/>
            <a:ext cx="3492400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71536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962025" y="3524994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5BDB"/>
                </a:solidFill>
                <a:latin typeface="Urbanist"/>
                <a:ea typeface="Urbanist"/>
                <a:cs typeface="Urbanist"/>
                <a:sym typeface="Urbanist"/>
              </a:rPr>
              <a:t>Ruído no Chat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4058394"/>
            <a:ext cx="27114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Demandas perdidas em conversas informais e grupos de 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e-mail, Discord, reuniões 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que nunca param.</a:t>
            </a:r>
            <a:endParaRPr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40175" y="271536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4740175" y="3524994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5BDB"/>
                </a:solidFill>
                <a:latin typeface="Urbanist"/>
                <a:ea typeface="Urbanist"/>
                <a:cs typeface="Urbanist"/>
                <a:sym typeface="Urbanist"/>
              </a:rPr>
              <a:t>E-mails Lentos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740175" y="4058394"/>
            <a:ext cx="271149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Solicitações soterradas em caixas de entrada sem qualquer priorização clara.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8475" y="271536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518475" y="3524994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5BDB"/>
                </a:solidFill>
                <a:latin typeface="Urbanist"/>
                <a:ea typeface="Urbanist"/>
                <a:cs typeface="Urbanist"/>
                <a:sym typeface="Urbanist"/>
              </a:rPr>
              <a:t>Memória Curta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518475" y="4058394"/>
            <a:ext cx="27113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Dependência excessiva de lembretes mentais, gerando falhas operacionais críticas.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18527" y="287991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89925" y="288681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982563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 Fragmentação do </a:t>
            </a:r>
            <a:r>
              <a:rPr lang="en-US" sz="3900" b="0" i="0" u="none" strike="noStrike" cap="none">
                <a:solidFill>
                  <a:srgbClr val="4C6E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Trabalho</a:t>
            </a:r>
            <a:endParaRPr/>
          </a:p>
        </p:txBody>
      </p:sp>
      <p:pic>
        <p:nvPicPr>
          <p:cNvPr id="117" name="Google Shape;117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6661" y="2535389"/>
            <a:ext cx="1014651" cy="1014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295275" y="1464468"/>
            <a:ext cx="1160145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3B5BDB"/>
                </a:solidFill>
                <a:latin typeface="Urbanist"/>
                <a:ea typeface="Urbanist"/>
                <a:cs typeface="Urbanist"/>
                <a:sym typeface="Urbanist"/>
              </a:rPr>
              <a:t>A Solução: MANACTIONS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28527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 hub central para toda e qualquer solicitação interna da sua empresa.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title="Captura de tela 2026-05-30 095723.png"/>
          <p:cNvPicPr preferRelativeResize="0"/>
          <p:nvPr/>
        </p:nvPicPr>
        <p:blipFill rotWithShape="1">
          <a:blip r:embed="rId4">
            <a:alphaModFix/>
          </a:blip>
          <a:srcRect t="-977" b="-1851"/>
          <a:stretch/>
        </p:blipFill>
        <p:spPr>
          <a:xfrm>
            <a:off x="6381750" y="1977181"/>
            <a:ext cx="5238751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71500" y="287119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Visibilidade Total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71500" y="3299825"/>
            <a:ext cx="5569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Toda demanda nasce e morre dentro do Manactions. Chega de perguntar "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Como está a demanda que eu criei?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 por mensagem direta.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914400" y="4452342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952500" y="4452342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Triagem inteligente por área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914400" y="4766667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52500" y="4766667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Priorização baseada em urgência real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14400" y="5080992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52500" y="5080992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Status visível para todos os envolvidos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982563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Centralização em </a:t>
            </a:r>
            <a:r>
              <a:rPr lang="en-US" sz="3900" b="0" i="0" u="none" strike="noStrike" cap="none">
                <a:solidFill>
                  <a:srgbClr val="4C6E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Canal Único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4844"/>
            <a:ext cx="3492400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24844"/>
            <a:ext cx="3492549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324844"/>
            <a:ext cx="3492400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71536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962025" y="3524994"/>
            <a:ext cx="284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5BDB"/>
                </a:solidFill>
                <a:latin typeface="Urbanist"/>
                <a:ea typeface="Urbanist"/>
                <a:cs typeface="Urbanist"/>
                <a:sym typeface="Urbanist"/>
              </a:rPr>
              <a:t>Histórico de demandas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962025" y="4058394"/>
            <a:ext cx="27113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Rastreabilidade completa de cada ação. Saiba quem, quando e como a demanda evoluiu.</a:t>
            </a:r>
            <a:endParaRPr/>
          </a:p>
        </p:txBody>
      </p:sp>
      <p:pic>
        <p:nvPicPr>
          <p:cNvPr id="152" name="Google Shape;15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40175" y="271536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4740175" y="3524994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5BDB"/>
                </a:solidFill>
                <a:latin typeface="Urbanist"/>
                <a:ea typeface="Urbanist"/>
                <a:cs typeface="Urbanist"/>
                <a:sym typeface="Urbanist"/>
              </a:rPr>
              <a:t>Notificações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4740175" y="4058394"/>
            <a:ext cx="2711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Alertas automáticos 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dentro da ferramenta, garantindo 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que nada seja esquecido.</a:t>
            </a:r>
            <a:endParaRPr/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8475" y="271536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8518475" y="3524994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5BDB"/>
                </a:solidFill>
                <a:latin typeface="Urbanist"/>
                <a:ea typeface="Urbanist"/>
                <a:cs typeface="Urbanist"/>
                <a:sym typeface="Urbanist"/>
              </a:rPr>
              <a:t>Governança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518475" y="4058400"/>
            <a:ext cx="2847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Permissões granulares que protegem 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hierarquia mantendo 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 foco operacional.</a:t>
            </a:r>
            <a:endParaRPr/>
          </a:p>
        </p:txBody>
      </p:sp>
      <p:pic>
        <p:nvPicPr>
          <p:cNvPr id="158" name="Google Shape;158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33475" y="288681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25913" y="2886819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89925" y="288681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71500" y="982563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Os Três Pilares de </a:t>
            </a:r>
            <a:r>
              <a:rPr lang="en-US" sz="3900" b="0" i="0" u="none" strike="noStrike" cap="none">
                <a:solidFill>
                  <a:srgbClr val="4C6E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Valor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7" name="Google Shape;167;p19"/>
          <p:cNvGraphicFramePr/>
          <p:nvPr/>
        </p:nvGraphicFramePr>
        <p:xfrm>
          <a:off x="571500" y="2901106"/>
          <a:ext cx="11048975" cy="2628900"/>
        </p:xfrm>
        <a:graphic>
          <a:graphicData uri="http://schemas.openxmlformats.org/drawingml/2006/table">
            <a:tbl>
              <a:tblPr firstRow="1" bandRow="1">
                <a:noFill/>
                <a:tableStyleId>{F7249D5B-A3F8-49AE-BACA-091DC9B23F71}</a:tableStyleId>
              </a:tblPr>
              <a:tblGrid>
                <a:gridCol w="20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B5B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Perfil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B5B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Capacidades Principais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B5B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Foco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7376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Admin</a:t>
                      </a:r>
                      <a:endParaRPr>
                        <a:solidFill>
                          <a:srgbClr val="07376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7376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Gestão total de usuários, áreas e configurações globais.</a:t>
                      </a:r>
                      <a:endParaRPr>
                        <a:solidFill>
                          <a:srgbClr val="07376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7376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Estratégico</a:t>
                      </a:r>
                      <a:endParaRPr>
                        <a:solidFill>
                          <a:srgbClr val="07376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7376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Gestor</a:t>
                      </a:r>
                      <a:endParaRPr>
                        <a:solidFill>
                          <a:srgbClr val="07376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7376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Triagem, atribuição de responsáveis e alteração de status.</a:t>
                      </a:r>
                      <a:endParaRPr>
                        <a:solidFill>
                          <a:srgbClr val="07376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7376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Tático</a:t>
                      </a:r>
                      <a:endParaRPr>
                        <a:solidFill>
                          <a:srgbClr val="07376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7376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Colaborador</a:t>
                      </a:r>
                      <a:endParaRPr>
                        <a:solidFill>
                          <a:srgbClr val="07376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7376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Abertura de chamados, comentários e consulta de base.</a:t>
                      </a:r>
                      <a:endParaRPr>
                        <a:solidFill>
                          <a:srgbClr val="07376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7376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Operacional</a:t>
                      </a:r>
                      <a:endParaRPr>
                        <a:solidFill>
                          <a:srgbClr val="07376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8" name="Google Shape;168;p19"/>
          <p:cNvSpPr/>
          <p:nvPr/>
        </p:nvSpPr>
        <p:spPr>
          <a:xfrm>
            <a:off x="571500" y="3644056"/>
            <a:ext cx="2038201" cy="1905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2609701" y="3644056"/>
            <a:ext cx="7046862" cy="1905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9656564" y="3644056"/>
            <a:ext cx="1963935" cy="1905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71500" y="4277469"/>
            <a:ext cx="2038201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2609701" y="4277469"/>
            <a:ext cx="7046862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9656564" y="4277469"/>
            <a:ext cx="1963935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571500" y="4896594"/>
            <a:ext cx="2038201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2609701" y="4896594"/>
            <a:ext cx="7046862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9656564" y="4896594"/>
            <a:ext cx="1963935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71500" y="5515719"/>
            <a:ext cx="2038201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2609701" y="5515719"/>
            <a:ext cx="7046862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9656564" y="5515719"/>
            <a:ext cx="1963935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982563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Gestão de </a:t>
            </a:r>
            <a:r>
              <a:rPr lang="en-US" sz="3900" b="0" i="0" u="none" strike="noStrike" cap="none">
                <a:solidFill>
                  <a:srgbClr val="4C6E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Acessos</a:t>
            </a:r>
            <a:r>
              <a:rPr lang="en-US" sz="39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Eficiente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1607343" y="3267819"/>
            <a:ext cx="30957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3B5BDB"/>
                </a:solidFill>
                <a:latin typeface="Urbanist"/>
                <a:ea typeface="Urbanist"/>
                <a:cs typeface="Urbanist"/>
                <a:sym typeface="Urbanist"/>
              </a:rPr>
              <a:t>-30%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1607343" y="4696569"/>
            <a:ext cx="30956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C6EF5"/>
                </a:solidFill>
                <a:latin typeface="Urbanist"/>
                <a:ea typeface="Urbanist"/>
                <a:cs typeface="Urbanist"/>
                <a:sym typeface="Urbanist"/>
              </a:rPr>
              <a:t>Mensagens de "Status"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774656" y="3261717"/>
            <a:ext cx="40005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Dados Realistas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774656" y="3690342"/>
            <a:ext cx="38100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Em microempresas, a centralização reduz drasticamente a necessidade de reuniões de alinhamento e interrupções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via canais de comunicação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71500" y="982563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Redução de </a:t>
            </a:r>
            <a:r>
              <a:rPr lang="en-US" sz="3900" b="0" i="0" u="none" strike="noStrike" cap="none">
                <a:solidFill>
                  <a:srgbClr val="4C6E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Ruído</a:t>
            </a:r>
            <a:r>
              <a:rPr lang="en-US" sz="39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Operacional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4113"/>
            <a:ext cx="11049000" cy="433238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571500" y="4667994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Melhoria conservadora de 15% no ciclo médio de entrega das demandas internas.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571500" y="982563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Ganho Real de </a:t>
            </a:r>
            <a:r>
              <a:rPr lang="en-US" sz="3900" b="0" i="0" u="none" strike="noStrike" cap="none">
                <a:solidFill>
                  <a:srgbClr val="4C6E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Produtividade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77181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6381750" y="3028354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Arquitetura Moderna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6381750" y="3456979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 Manactions foi construído sobre as fundações tecnológicas mais seguras e escaláveis do mercado:</a:t>
            </a:r>
            <a:endParaRPr/>
          </a:p>
        </p:txBody>
      </p:sp>
      <p:pic>
        <p:nvPicPr>
          <p:cNvPr id="207" name="Google Shape;207;p22" title="Captura de tela 2026-05-30 103445.png"/>
          <p:cNvPicPr preferRelativeResize="0"/>
          <p:nvPr/>
        </p:nvPicPr>
        <p:blipFill rotWithShape="1">
          <a:blip r:embed="rId5">
            <a:alphaModFix/>
          </a:blip>
          <a:srcRect l="209" r="209"/>
          <a:stretch/>
        </p:blipFill>
        <p:spPr>
          <a:xfrm>
            <a:off x="581025" y="1986706"/>
            <a:ext cx="5219699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6724650" y="4295179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762750" y="4295179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Backend: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NestJS + Prisma ORM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6724650" y="4609504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762750" y="4609504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Database: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Supabase (PostgreSQL)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724650" y="4923829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762750" y="4923829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Frontend: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React + TanStack Query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571500" y="982563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Tecnologia de </a:t>
            </a:r>
            <a:r>
              <a:rPr lang="en-US" sz="3900" b="0" i="0" u="none" strike="noStrike" cap="none">
                <a:solidFill>
                  <a:srgbClr val="4C6E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Ponta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00000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/>
          <p:nvPr/>
        </p:nvSpPr>
        <p:spPr>
          <a:xfrm>
            <a:off x="571500" y="4110781"/>
            <a:ext cx="11049000" cy="1905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510733" y="3724572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5BDB"/>
                </a:solidFill>
                <a:latin typeface="Urbanist"/>
                <a:ea typeface="Urbanist"/>
                <a:cs typeface="Urbanist"/>
                <a:sym typeface="Urbanist"/>
              </a:rPr>
              <a:t>Dia 1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571500" y="4210347"/>
            <a:ext cx="243066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Mapeamento de Áreas e Processos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3383413" y="3724572"/>
            <a:ext cx="255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5BDB"/>
                </a:solidFill>
                <a:latin typeface="Urbanist"/>
                <a:ea typeface="Urbanist"/>
                <a:cs typeface="Urbanist"/>
                <a:sym typeface="Urbanist"/>
              </a:rPr>
              <a:t>Dia 2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3444180" y="4210347"/>
            <a:ext cx="243066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Configuração de Usuários e Permissões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6256094" y="3724572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B5BDB"/>
                </a:solidFill>
                <a:latin typeface="Urbanist"/>
                <a:ea typeface="Urbanist"/>
                <a:cs typeface="Urbanist"/>
                <a:sym typeface="Urbanist"/>
              </a:rPr>
              <a:t>Dia</a:t>
            </a:r>
            <a:r>
              <a:rPr lang="en-US" sz="1800" b="1" i="0" u="none" strike="noStrike" cap="none" dirty="0">
                <a:solidFill>
                  <a:srgbClr val="3B5B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dirty="0">
                <a:solidFill>
                  <a:srgbClr val="3B5BDB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endParaRPr dirty="0"/>
          </a:p>
        </p:txBody>
      </p:sp>
      <p:sp>
        <p:nvSpPr>
          <p:cNvPr id="226" name="Google Shape;226;p23"/>
          <p:cNvSpPr txBox="1"/>
          <p:nvPr/>
        </p:nvSpPr>
        <p:spPr>
          <a:xfrm>
            <a:off x="6316860" y="4210347"/>
            <a:ext cx="243066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Treinamento e Onboarding do Time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9128774" y="3724572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B5BDB"/>
                </a:solidFill>
                <a:latin typeface="Urbanist"/>
                <a:ea typeface="Urbanist"/>
                <a:cs typeface="Urbanist"/>
                <a:sym typeface="Urbanist"/>
              </a:rPr>
              <a:t>Dia</a:t>
            </a:r>
            <a:r>
              <a:rPr lang="en-US" sz="1800" b="1" i="0" u="none" strike="noStrike" cap="none" dirty="0">
                <a:solidFill>
                  <a:srgbClr val="3B5BDB"/>
                </a:solidFill>
                <a:latin typeface="Urbanist"/>
                <a:ea typeface="Urbanist"/>
                <a:cs typeface="Urbanist"/>
                <a:sym typeface="Urbanist"/>
              </a:rPr>
              <a:t> 4</a:t>
            </a:r>
            <a:endParaRPr dirty="0"/>
          </a:p>
        </p:txBody>
      </p:sp>
      <p:sp>
        <p:nvSpPr>
          <p:cNvPr id="228" name="Google Shape;228;p23"/>
          <p:cNvSpPr txBox="1"/>
          <p:nvPr/>
        </p:nvSpPr>
        <p:spPr>
          <a:xfrm>
            <a:off x="9189541" y="4210347"/>
            <a:ext cx="243066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Go-Live e Início da Gestão Centralizada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571500" y="982563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Jornada de </a:t>
            </a:r>
            <a:r>
              <a:rPr lang="en-US" sz="3900" b="0" i="0" u="none" strike="noStrike" cap="none">
                <a:solidFill>
                  <a:srgbClr val="4C6E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Implementação</a:t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1672530" y="319206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4545210" y="319206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7417891" y="319206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10290571" y="319206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/>
        </p:nvSpPr>
        <p:spPr>
          <a:xfrm>
            <a:off x="2820590" y="2409825"/>
            <a:ext cx="655081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B5BDB"/>
                </a:solidFill>
                <a:latin typeface="Urbanist"/>
                <a:ea typeface="Urbanist"/>
                <a:cs typeface="Urbanist"/>
                <a:sym typeface="Urbanist"/>
              </a:rPr>
              <a:t>Dúvidas?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2976562" y="3743325"/>
            <a:ext cx="62388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C6E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MANACTIONS: O controle que sua empresa merece.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2976562" y="4714875"/>
            <a:ext cx="62388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manactions.vercel.app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/>
          <p:nvPr/>
        </p:nvSpPr>
        <p:spPr>
          <a:xfrm>
            <a:off x="571500" y="3353544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71500" y="411554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71500" y="411554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25" title="Captura de tela 2026-05-30 095723.png"/>
          <p:cNvPicPr preferRelativeResize="0"/>
          <p:nvPr/>
        </p:nvPicPr>
        <p:blipFill rotWithShape="1">
          <a:blip r:embed="rId4">
            <a:alphaModFix/>
          </a:blip>
          <a:srcRect t="14075" b="14075"/>
          <a:stretch/>
        </p:blipFill>
        <p:spPr>
          <a:xfrm>
            <a:off x="571500" y="3011256"/>
            <a:ext cx="1730552" cy="9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2464149" y="3011250"/>
            <a:ext cx="69768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8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Visualização da Ferramenta</a:t>
            </a:r>
            <a:endParaRPr sz="2826"/>
          </a:p>
        </p:txBody>
      </p:sp>
      <p:sp>
        <p:nvSpPr>
          <p:cNvPr id="252" name="Google Shape;252;p25"/>
          <p:cNvSpPr txBox="1"/>
          <p:nvPr/>
        </p:nvSpPr>
        <p:spPr>
          <a:xfrm>
            <a:off x="2519350" y="3744075"/>
            <a:ext cx="570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https://manactions.vercel.app/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571500" y="982563"/>
            <a:ext cx="11601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Links:</a:t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571500" y="4700994"/>
            <a:ext cx="110490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25" title="Captura de tela 2026-05-30 110612.png"/>
          <p:cNvPicPr preferRelativeResize="0"/>
          <p:nvPr/>
        </p:nvPicPr>
        <p:blipFill rotWithShape="1">
          <a:blip r:embed="rId5">
            <a:alphaModFix/>
          </a:blip>
          <a:srcRect t="9980" b="9988"/>
          <a:stretch/>
        </p:blipFill>
        <p:spPr>
          <a:xfrm>
            <a:off x="571500" y="4358706"/>
            <a:ext cx="1730551" cy="9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2464149" y="4358700"/>
            <a:ext cx="69768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8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Visualização do Código</a:t>
            </a:r>
            <a:endParaRPr sz="2826"/>
          </a:p>
        </p:txBody>
      </p:sp>
      <p:sp>
        <p:nvSpPr>
          <p:cNvPr id="257" name="Google Shape;257;p25"/>
          <p:cNvSpPr txBox="1"/>
          <p:nvPr/>
        </p:nvSpPr>
        <p:spPr>
          <a:xfrm>
            <a:off x="2519350" y="5091525"/>
            <a:ext cx="570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https://github.com/EzequiellSantos/Manactions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410</Words>
  <Application>Microsoft Office PowerPoint</Application>
  <PresentationFormat>Widescreen</PresentationFormat>
  <Paragraphs>77</Paragraphs>
  <Slides>13</Slides>
  <Notes>13</Notes>
  <HiddenSlides>1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Urbanist Medium</vt:lpstr>
      <vt:lpstr>Calibri</vt:lpstr>
      <vt:lpstr>Urbanist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Ezequiel Santos</dc:creator>
  <cp:lastModifiedBy>Ezequiel Santos</cp:lastModifiedBy>
  <cp:revision>2</cp:revision>
  <dcterms:modified xsi:type="dcterms:W3CDTF">2026-05-30T14:32:37Z</dcterms:modified>
</cp:coreProperties>
</file>